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charset="1" panose="00000500000000000000"/>
      <p:regular r:id="rId17"/>
    </p:embeddedFont>
    <p:embeddedFont>
      <p:font typeface="Bebas Neue Bold" charset="1" panose="020B0606020202050201"/>
      <p:regular r:id="rId18"/>
    </p:embeddedFont>
    <p:embeddedFont>
      <p:font typeface="Montserrat Bold" charset="1" panose="00000800000000000000"/>
      <p:regular r:id="rId19"/>
    </p:embeddedFont>
    <p:embeddedFont>
      <p:font typeface="Open Sans Bold" charset="1" panose="020B0806030504020204"/>
      <p:regular r:id="rId20"/>
    </p:embeddedFont>
    <p:embeddedFont>
      <p:font typeface="Open Sans" charset="1" panose="020B0606030504020204"/>
      <p:regular r:id="rId21"/>
    </p:embeddedFont>
    <p:embeddedFont>
      <p:font typeface="Monomaniac One" charset="1" panose="00000000000000000000"/>
      <p:regular r:id="rId22"/>
    </p:embeddedFont>
    <p:embeddedFont>
      <p:font typeface="Bebas Neue"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https://www.kaggle.com/datasets/ajitjha01/sales-dataset"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38686"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132736" y="0"/>
            <a:ext cx="12569602" cy="10677570"/>
            <a:chOff x="0" y="0"/>
            <a:chExt cx="3310513" cy="2812199"/>
          </a:xfrm>
        </p:grpSpPr>
        <p:sp>
          <p:nvSpPr>
            <p:cNvPr name="Freeform 8" id="8"/>
            <p:cNvSpPr/>
            <p:nvPr/>
          </p:nvSpPr>
          <p:spPr>
            <a:xfrm flipH="false" flipV="false" rot="0">
              <a:off x="0" y="0"/>
              <a:ext cx="3310513" cy="2812199"/>
            </a:xfrm>
            <a:custGeom>
              <a:avLst/>
              <a:gdLst/>
              <a:ahLst/>
              <a:cxnLst/>
              <a:rect r="r" b="b" t="t" l="l"/>
              <a:pathLst>
                <a:path h="2812199" w="3310513">
                  <a:moveTo>
                    <a:pt x="0" y="0"/>
                  </a:moveTo>
                  <a:lnTo>
                    <a:pt x="3310513" y="0"/>
                  </a:lnTo>
                  <a:lnTo>
                    <a:pt x="3310513" y="2812199"/>
                  </a:lnTo>
                  <a:lnTo>
                    <a:pt x="0" y="2812199"/>
                  </a:lnTo>
                  <a:close/>
                </a:path>
              </a:pathLst>
            </a:custGeom>
            <a:solidFill>
              <a:srgbClr val="FFFFFF"/>
            </a:solidFill>
          </p:spPr>
        </p:sp>
        <p:sp>
          <p:nvSpPr>
            <p:cNvPr name="TextBox 9" id="9"/>
            <p:cNvSpPr txBox="true"/>
            <p:nvPr/>
          </p:nvSpPr>
          <p:spPr>
            <a:xfrm>
              <a:off x="0" y="-38100"/>
              <a:ext cx="3310513" cy="2850299"/>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663161" y="5936097"/>
            <a:ext cx="6697898" cy="1012995"/>
            <a:chOff x="0" y="0"/>
            <a:chExt cx="1764056" cy="266797"/>
          </a:xfrm>
        </p:grpSpPr>
        <p:sp>
          <p:nvSpPr>
            <p:cNvPr name="Freeform 11" id="11"/>
            <p:cNvSpPr/>
            <p:nvPr/>
          </p:nvSpPr>
          <p:spPr>
            <a:xfrm flipH="false" flipV="false" rot="0">
              <a:off x="0" y="0"/>
              <a:ext cx="1764056" cy="266797"/>
            </a:xfrm>
            <a:custGeom>
              <a:avLst/>
              <a:gdLst/>
              <a:ahLst/>
              <a:cxnLst/>
              <a:rect r="r" b="b" t="t" l="l"/>
              <a:pathLst>
                <a:path h="266797" w="1764056">
                  <a:moveTo>
                    <a:pt x="58950" y="0"/>
                  </a:moveTo>
                  <a:lnTo>
                    <a:pt x="1705106" y="0"/>
                  </a:lnTo>
                  <a:cubicBezTo>
                    <a:pt x="1720740" y="0"/>
                    <a:pt x="1735734" y="6211"/>
                    <a:pt x="1746790" y="17266"/>
                  </a:cubicBezTo>
                  <a:cubicBezTo>
                    <a:pt x="1757845" y="28321"/>
                    <a:pt x="1764056" y="43315"/>
                    <a:pt x="1764056" y="58950"/>
                  </a:cubicBezTo>
                  <a:lnTo>
                    <a:pt x="1764056" y="207848"/>
                  </a:lnTo>
                  <a:cubicBezTo>
                    <a:pt x="1764056" y="240405"/>
                    <a:pt x="1737663" y="266797"/>
                    <a:pt x="1705106" y="266797"/>
                  </a:cubicBezTo>
                  <a:lnTo>
                    <a:pt x="58950" y="266797"/>
                  </a:lnTo>
                  <a:cubicBezTo>
                    <a:pt x="26393" y="266797"/>
                    <a:pt x="0" y="240405"/>
                    <a:pt x="0" y="207848"/>
                  </a:cubicBezTo>
                  <a:lnTo>
                    <a:pt x="0" y="58950"/>
                  </a:lnTo>
                  <a:cubicBezTo>
                    <a:pt x="0" y="26393"/>
                    <a:pt x="26393" y="0"/>
                    <a:pt x="58950" y="0"/>
                  </a:cubicBezTo>
                  <a:close/>
                </a:path>
              </a:pathLst>
            </a:custGeom>
            <a:solidFill>
              <a:srgbClr val="FFDE59"/>
            </a:solidFill>
            <a:ln w="19050" cap="rnd">
              <a:solidFill>
                <a:srgbClr val="2A2A2A"/>
              </a:solidFill>
              <a:prstDash val="solid"/>
              <a:round/>
            </a:ln>
          </p:spPr>
        </p:sp>
        <p:sp>
          <p:nvSpPr>
            <p:cNvPr name="TextBox 12" id="12"/>
            <p:cNvSpPr txBox="true"/>
            <p:nvPr/>
          </p:nvSpPr>
          <p:spPr>
            <a:xfrm>
              <a:off x="0" y="-57150"/>
              <a:ext cx="1764056" cy="323947"/>
            </a:xfrm>
            <a:prstGeom prst="rect">
              <a:avLst/>
            </a:prstGeom>
          </p:spPr>
          <p:txBody>
            <a:bodyPr anchor="ctr" rtlCol="false" tIns="50800" lIns="50800" bIns="50800" rIns="50800"/>
            <a:lstStyle/>
            <a:p>
              <a:pPr algn="ctr">
                <a:lnSpc>
                  <a:spcPts val="4200"/>
                </a:lnSpc>
              </a:pPr>
              <a:r>
                <a:rPr lang="en-US" sz="3000">
                  <a:solidFill>
                    <a:srgbClr val="2A2A2A"/>
                  </a:solidFill>
                  <a:latin typeface="Montserrat"/>
                  <a:ea typeface="Montserrat"/>
                  <a:cs typeface="Montserrat"/>
                  <a:sym typeface="Montserrat"/>
                </a:rPr>
                <a:t>Oleh: Ester Siahaan</a:t>
              </a:r>
            </a:p>
          </p:txBody>
        </p:sp>
      </p:grpSp>
      <p:sp>
        <p:nvSpPr>
          <p:cNvPr name="Freeform 13" id="13"/>
          <p:cNvSpPr/>
          <p:nvPr/>
        </p:nvSpPr>
        <p:spPr>
          <a:xfrm flipH="false" flipV="false" rot="0">
            <a:off x="10931143" y="4686593"/>
            <a:ext cx="7356857" cy="5600407"/>
          </a:xfrm>
          <a:custGeom>
            <a:avLst/>
            <a:gdLst/>
            <a:ahLst/>
            <a:cxnLst/>
            <a:rect r="r" b="b" t="t" l="l"/>
            <a:pathLst>
              <a:path h="5600407" w="7356857">
                <a:moveTo>
                  <a:pt x="0" y="0"/>
                </a:moveTo>
                <a:lnTo>
                  <a:pt x="7356857" y="0"/>
                </a:lnTo>
                <a:lnTo>
                  <a:pt x="7356857" y="5600407"/>
                </a:lnTo>
                <a:lnTo>
                  <a:pt x="0" y="56004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2036434" y="186692"/>
            <a:ext cx="6557874" cy="3005716"/>
          </a:xfrm>
          <a:custGeom>
            <a:avLst/>
            <a:gdLst/>
            <a:ahLst/>
            <a:cxnLst/>
            <a:rect r="r" b="b" t="t" l="l"/>
            <a:pathLst>
              <a:path h="3005716" w="6557874">
                <a:moveTo>
                  <a:pt x="0" y="0"/>
                </a:moveTo>
                <a:lnTo>
                  <a:pt x="6557874" y="0"/>
                </a:lnTo>
                <a:lnTo>
                  <a:pt x="6557874" y="3005717"/>
                </a:lnTo>
                <a:lnTo>
                  <a:pt x="0" y="3005717"/>
                </a:lnTo>
                <a:lnTo>
                  <a:pt x="0" y="0"/>
                </a:lnTo>
                <a:close/>
              </a:path>
            </a:pathLst>
          </a:custGeom>
          <a:blipFill>
            <a:blip r:embed="rId6"/>
            <a:stretch>
              <a:fillRect l="0" t="-24593" r="0" b="-24593"/>
            </a:stretch>
          </a:blipFill>
        </p:spPr>
      </p:sp>
      <p:sp>
        <p:nvSpPr>
          <p:cNvPr name="TextBox 15" id="15"/>
          <p:cNvSpPr txBox="true"/>
          <p:nvPr/>
        </p:nvSpPr>
        <p:spPr>
          <a:xfrm rot="0">
            <a:off x="663161" y="2589093"/>
            <a:ext cx="11420262" cy="1798954"/>
          </a:xfrm>
          <a:prstGeom prst="rect">
            <a:avLst/>
          </a:prstGeom>
        </p:spPr>
        <p:txBody>
          <a:bodyPr anchor="t" rtlCol="false" tIns="0" lIns="0" bIns="0" rIns="0">
            <a:spAutoFit/>
          </a:bodyPr>
          <a:lstStyle/>
          <a:p>
            <a:pPr algn="l">
              <a:lnSpc>
                <a:spcPts val="14560"/>
              </a:lnSpc>
            </a:pPr>
            <a:r>
              <a:rPr lang="en-US" sz="10400" b="true">
                <a:solidFill>
                  <a:srgbClr val="2A2A2A"/>
                </a:solidFill>
                <a:latin typeface="Bebas Neue Bold"/>
                <a:ea typeface="Bebas Neue Bold"/>
                <a:cs typeface="Bebas Neue Bold"/>
                <a:sym typeface="Bebas Neue Bold"/>
              </a:rPr>
              <a:t>E-COMMERCE SALES</a:t>
            </a:r>
          </a:p>
        </p:txBody>
      </p:sp>
      <p:sp>
        <p:nvSpPr>
          <p:cNvPr name="TextBox 16" id="16"/>
          <p:cNvSpPr txBox="true"/>
          <p:nvPr/>
        </p:nvSpPr>
        <p:spPr>
          <a:xfrm rot="0">
            <a:off x="1449031" y="3795979"/>
            <a:ext cx="12132585" cy="1965771"/>
          </a:xfrm>
          <a:prstGeom prst="rect">
            <a:avLst/>
          </a:prstGeom>
        </p:spPr>
        <p:txBody>
          <a:bodyPr anchor="t" rtlCol="false" tIns="0" lIns="0" bIns="0" rIns="0">
            <a:spAutoFit/>
          </a:bodyPr>
          <a:lstStyle/>
          <a:p>
            <a:pPr algn="l">
              <a:lnSpc>
                <a:spcPts val="15970"/>
              </a:lnSpc>
            </a:pPr>
            <a:r>
              <a:rPr lang="en-US" b="true" sz="11407">
                <a:solidFill>
                  <a:srgbClr val="2A2A2A"/>
                </a:solidFill>
                <a:latin typeface="Bebas Neue Bold"/>
                <a:ea typeface="Bebas Neue Bold"/>
                <a:cs typeface="Bebas Neue Bold"/>
                <a:sym typeface="Bebas Neue Bold"/>
              </a:rPr>
              <a:t>PERFORMANCE DASHBOARD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1028700" y="1028700"/>
            <a:ext cx="16230600" cy="8229600"/>
            <a:chOff x="0" y="0"/>
            <a:chExt cx="4274726" cy="2167467"/>
          </a:xfrm>
        </p:grpSpPr>
        <p:sp>
          <p:nvSpPr>
            <p:cNvPr name="Freeform 13" id="1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0933672" y="6396147"/>
            <a:ext cx="6202775" cy="3706158"/>
          </a:xfrm>
          <a:custGeom>
            <a:avLst/>
            <a:gdLst/>
            <a:ahLst/>
            <a:cxnLst/>
            <a:rect r="r" b="b" t="t" l="l"/>
            <a:pathLst>
              <a:path h="3706158" w="6202775">
                <a:moveTo>
                  <a:pt x="0" y="0"/>
                </a:moveTo>
                <a:lnTo>
                  <a:pt x="6202775" y="0"/>
                </a:lnTo>
                <a:lnTo>
                  <a:pt x="6202775" y="3706158"/>
                </a:lnTo>
                <a:lnTo>
                  <a:pt x="0" y="37061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6" id="16"/>
          <p:cNvSpPr/>
          <p:nvPr/>
        </p:nvSpPr>
        <p:spPr>
          <a:xfrm>
            <a:off x="1985741" y="2701344"/>
            <a:ext cx="19050" cy="4900253"/>
          </a:xfrm>
          <a:prstGeom prst="line">
            <a:avLst/>
          </a:prstGeom>
          <a:ln cap="flat" w="38100">
            <a:solidFill>
              <a:srgbClr val="2A2A2A"/>
            </a:solidFill>
            <a:prstDash val="solid"/>
            <a:headEnd type="none" len="sm" w="sm"/>
            <a:tailEnd type="none" len="sm" w="sm"/>
          </a:ln>
        </p:spPr>
      </p:sp>
      <p:grpSp>
        <p:nvGrpSpPr>
          <p:cNvPr name="Group 17" id="17"/>
          <p:cNvGrpSpPr/>
          <p:nvPr/>
        </p:nvGrpSpPr>
        <p:grpSpPr>
          <a:xfrm rot="0">
            <a:off x="1822384" y="2214084"/>
            <a:ext cx="288613" cy="2886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543578" y="1267934"/>
            <a:ext cx="7778088" cy="1692274"/>
          </a:xfrm>
          <a:prstGeom prst="rect">
            <a:avLst/>
          </a:prstGeom>
        </p:spPr>
        <p:txBody>
          <a:bodyPr anchor="t" rtlCol="false" tIns="0" lIns="0" bIns="0" rIns="0">
            <a:spAutoFit/>
          </a:bodyPr>
          <a:lstStyle/>
          <a:p>
            <a:pPr algn="l">
              <a:lnSpc>
                <a:spcPts val="13720"/>
              </a:lnSpc>
            </a:pPr>
            <a:r>
              <a:rPr lang="en-US" b="true" sz="9800">
                <a:solidFill>
                  <a:srgbClr val="2A2A2A"/>
                </a:solidFill>
                <a:latin typeface="Bebas Neue Bold"/>
                <a:ea typeface="Bebas Neue Bold"/>
                <a:cs typeface="Bebas Neue Bold"/>
                <a:sym typeface="Bebas Neue Bold"/>
              </a:rPr>
              <a:t>BUSINESS OVERVIEW</a:t>
            </a:r>
          </a:p>
        </p:txBody>
      </p:sp>
      <p:sp>
        <p:nvSpPr>
          <p:cNvPr name="TextBox 21" id="21"/>
          <p:cNvSpPr txBox="true"/>
          <p:nvPr/>
        </p:nvSpPr>
        <p:spPr>
          <a:xfrm rot="0">
            <a:off x="2311654" y="3845224"/>
            <a:ext cx="13783280" cy="2595671"/>
          </a:xfrm>
          <a:prstGeom prst="rect">
            <a:avLst/>
          </a:prstGeom>
        </p:spPr>
        <p:txBody>
          <a:bodyPr anchor="t" rtlCol="false" tIns="0" lIns="0" bIns="0" rIns="0">
            <a:spAutoFit/>
          </a:bodyPr>
          <a:lstStyle/>
          <a:p>
            <a:pPr algn="just">
              <a:lnSpc>
                <a:spcPts val="3481"/>
              </a:lnSpc>
            </a:pPr>
            <a:r>
              <a:rPr lang="en-US" sz="2486">
                <a:solidFill>
                  <a:srgbClr val="2A2A2A"/>
                </a:solidFill>
                <a:latin typeface="Montserrat"/>
                <a:ea typeface="Montserrat"/>
                <a:cs typeface="Montserrat"/>
                <a:sym typeface="Montserrat"/>
              </a:rPr>
              <a:t>This p</a:t>
            </a:r>
            <a:r>
              <a:rPr lang="en-US" sz="2486">
                <a:solidFill>
                  <a:srgbClr val="2A2A2A"/>
                </a:solidFill>
                <a:latin typeface="Montserrat"/>
                <a:ea typeface="Montserrat"/>
                <a:cs typeface="Montserrat"/>
                <a:sym typeface="Montserrat"/>
              </a:rPr>
              <a:t>roject analyzes a fictional e-commerce company's sales performance using a public sales dataset from Kaggle. The dataset contains transactional information such as products, categories, customer types, payment methods, order dates, quantities, and revenue across multiple regions from 2022 to 2026. Although the dataset is simulated, it represents realistic business operations and is suitable for practicing business intelligence and sales performance analysis. </a:t>
            </a:r>
          </a:p>
        </p:txBody>
      </p:sp>
      <p:grpSp>
        <p:nvGrpSpPr>
          <p:cNvPr name="Group 22" id="22"/>
          <p:cNvGrpSpPr/>
          <p:nvPr/>
        </p:nvGrpSpPr>
        <p:grpSpPr>
          <a:xfrm rot="0">
            <a:off x="8074706" y="8751802"/>
            <a:ext cx="288613" cy="28861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5718457" y="1681653"/>
            <a:ext cx="2009749" cy="741881"/>
            <a:chOff x="0" y="0"/>
            <a:chExt cx="529317" cy="195393"/>
          </a:xfrm>
        </p:grpSpPr>
        <p:sp>
          <p:nvSpPr>
            <p:cNvPr name="Freeform 26" id="26"/>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FFDE59"/>
            </a:solidFill>
            <a:ln w="19050" cap="rnd">
              <a:solidFill>
                <a:srgbClr val="2A2A2A"/>
              </a:solidFill>
              <a:prstDash val="solid"/>
              <a:round/>
            </a:ln>
          </p:spPr>
        </p:sp>
        <p:sp>
          <p:nvSpPr>
            <p:cNvPr name="TextBox 27" id="27"/>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grpSp>
        <p:nvGrpSpPr>
          <p:cNvPr name="Group 28" id="28"/>
          <p:cNvGrpSpPr/>
          <p:nvPr/>
        </p:nvGrpSpPr>
        <p:grpSpPr>
          <a:xfrm rot="0">
            <a:off x="1243156" y="7952610"/>
            <a:ext cx="8794489" cy="1087806"/>
            <a:chOff x="0" y="0"/>
            <a:chExt cx="2316244" cy="286500"/>
          </a:xfrm>
        </p:grpSpPr>
        <p:sp>
          <p:nvSpPr>
            <p:cNvPr name="Freeform 29" id="29"/>
            <p:cNvSpPr/>
            <p:nvPr/>
          </p:nvSpPr>
          <p:spPr>
            <a:xfrm flipH="false" flipV="false" rot="0">
              <a:off x="0" y="0"/>
              <a:ext cx="2316244" cy="286500"/>
            </a:xfrm>
            <a:custGeom>
              <a:avLst/>
              <a:gdLst/>
              <a:ahLst/>
              <a:cxnLst/>
              <a:rect r="r" b="b" t="t" l="l"/>
              <a:pathLst>
                <a:path h="286500" w="2316244">
                  <a:moveTo>
                    <a:pt x="44896" y="0"/>
                  </a:moveTo>
                  <a:lnTo>
                    <a:pt x="2271348" y="0"/>
                  </a:lnTo>
                  <a:cubicBezTo>
                    <a:pt x="2283255" y="0"/>
                    <a:pt x="2294675" y="4730"/>
                    <a:pt x="2303094" y="13150"/>
                  </a:cubicBezTo>
                  <a:cubicBezTo>
                    <a:pt x="2311514" y="21569"/>
                    <a:pt x="2316244" y="32989"/>
                    <a:pt x="2316244" y="44896"/>
                  </a:cubicBezTo>
                  <a:lnTo>
                    <a:pt x="2316244" y="241604"/>
                  </a:lnTo>
                  <a:cubicBezTo>
                    <a:pt x="2316244" y="253511"/>
                    <a:pt x="2311514" y="264931"/>
                    <a:pt x="2303094" y="273351"/>
                  </a:cubicBezTo>
                  <a:cubicBezTo>
                    <a:pt x="2294675" y="281770"/>
                    <a:pt x="2283255" y="286500"/>
                    <a:pt x="2271348" y="286500"/>
                  </a:cubicBezTo>
                  <a:lnTo>
                    <a:pt x="44896" y="286500"/>
                  </a:lnTo>
                  <a:cubicBezTo>
                    <a:pt x="20101" y="286500"/>
                    <a:pt x="0" y="266400"/>
                    <a:pt x="0" y="241604"/>
                  </a:cubicBezTo>
                  <a:lnTo>
                    <a:pt x="0" y="44896"/>
                  </a:lnTo>
                  <a:cubicBezTo>
                    <a:pt x="0" y="32989"/>
                    <a:pt x="4730" y="21569"/>
                    <a:pt x="13150" y="13150"/>
                  </a:cubicBezTo>
                  <a:cubicBezTo>
                    <a:pt x="21569" y="4730"/>
                    <a:pt x="32989" y="0"/>
                    <a:pt x="44896" y="0"/>
                  </a:cubicBezTo>
                  <a:close/>
                </a:path>
              </a:pathLst>
            </a:custGeom>
            <a:solidFill>
              <a:srgbClr val="FFDE59"/>
            </a:solidFill>
            <a:ln w="19050" cap="rnd">
              <a:solidFill>
                <a:srgbClr val="2A2A2A"/>
              </a:solidFill>
              <a:prstDash val="solid"/>
              <a:round/>
            </a:ln>
          </p:spPr>
        </p:sp>
        <p:sp>
          <p:nvSpPr>
            <p:cNvPr name="TextBox 30" id="30"/>
            <p:cNvSpPr txBox="true"/>
            <p:nvPr/>
          </p:nvSpPr>
          <p:spPr>
            <a:xfrm>
              <a:off x="0" y="-47625"/>
              <a:ext cx="2316244" cy="334125"/>
            </a:xfrm>
            <a:prstGeom prst="rect">
              <a:avLst/>
            </a:prstGeom>
          </p:spPr>
          <p:txBody>
            <a:bodyPr anchor="ctr" rtlCol="false" tIns="50800" lIns="50800" bIns="50800" rIns="50800"/>
            <a:lstStyle/>
            <a:p>
              <a:pPr algn="just">
                <a:lnSpc>
                  <a:spcPts val="4060"/>
                </a:lnSpc>
              </a:pPr>
              <a:r>
                <a:rPr lang="en-US" sz="2900" b="true">
                  <a:solidFill>
                    <a:srgbClr val="2A2A2A"/>
                  </a:solidFill>
                  <a:latin typeface="Montserrat Bold"/>
                  <a:ea typeface="Montserrat Bold"/>
                  <a:cs typeface="Montserrat Bold"/>
                  <a:sym typeface="Montserrat Bold"/>
                </a:rPr>
                <a:t>   Source:</a:t>
              </a:r>
            </a:p>
            <a:p>
              <a:pPr algn="ctr">
                <a:lnSpc>
                  <a:spcPts val="3220"/>
                </a:lnSpc>
              </a:pPr>
              <a:r>
                <a:rPr lang="en-US" sz="2300" u="sng">
                  <a:solidFill>
                    <a:srgbClr val="2A2A2A"/>
                  </a:solidFill>
                  <a:latin typeface="Montserrat"/>
                  <a:ea typeface="Montserrat"/>
                  <a:cs typeface="Montserrat"/>
                  <a:sym typeface="Montserrat"/>
                  <a:hlinkClick r:id="rId6" tooltip="https://www.kaggle.com/datasets/ajitjha01/sales-dataset"/>
                </a:rPr>
                <a:t>https://www.kaggle.com/datasets/ajitjha01/sales-dataset</a:t>
              </a:r>
            </a:p>
          </p:txBody>
        </p:sp>
      </p:grpSp>
      <p:sp>
        <p:nvSpPr>
          <p:cNvPr name="AutoShape 31" id="31"/>
          <p:cNvSpPr/>
          <p:nvPr/>
        </p:nvSpPr>
        <p:spPr>
          <a:xfrm>
            <a:off x="16258035" y="2052594"/>
            <a:ext cx="878412" cy="0"/>
          </a:xfrm>
          <a:prstGeom prst="line">
            <a:avLst/>
          </a:prstGeom>
          <a:ln cap="flat" w="57150">
            <a:solidFill>
              <a:srgbClr val="2A2A2A"/>
            </a:solidFill>
            <a:prstDash val="solid"/>
            <a:headEnd type="none" len="sm" w="sm"/>
            <a:tailEnd type="arrow" len="sm" w="med"/>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256071" y="2399840"/>
            <a:ext cx="18800143" cy="6372228"/>
            <a:chOff x="0" y="0"/>
            <a:chExt cx="4951478" cy="1678282"/>
          </a:xfrm>
        </p:grpSpPr>
        <p:sp>
          <p:nvSpPr>
            <p:cNvPr name="Freeform 13" id="13"/>
            <p:cNvSpPr/>
            <p:nvPr/>
          </p:nvSpPr>
          <p:spPr>
            <a:xfrm flipH="false" flipV="false" rot="0">
              <a:off x="0" y="0"/>
              <a:ext cx="4951478" cy="1678282"/>
            </a:xfrm>
            <a:custGeom>
              <a:avLst/>
              <a:gdLst/>
              <a:ahLst/>
              <a:cxnLst/>
              <a:rect r="r" b="b" t="t" l="l"/>
              <a:pathLst>
                <a:path h="1678282" w="4951478">
                  <a:moveTo>
                    <a:pt x="0" y="0"/>
                  </a:moveTo>
                  <a:lnTo>
                    <a:pt x="4951478" y="0"/>
                  </a:lnTo>
                  <a:lnTo>
                    <a:pt x="4951478" y="1678282"/>
                  </a:lnTo>
                  <a:lnTo>
                    <a:pt x="0" y="1678282"/>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4951478" cy="1716382"/>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392635" y="389425"/>
            <a:ext cx="11874608" cy="1654553"/>
            <a:chOff x="0" y="0"/>
            <a:chExt cx="3127469" cy="435767"/>
          </a:xfrm>
        </p:grpSpPr>
        <p:sp>
          <p:nvSpPr>
            <p:cNvPr name="Freeform 16" id="16"/>
            <p:cNvSpPr/>
            <p:nvPr/>
          </p:nvSpPr>
          <p:spPr>
            <a:xfrm flipH="false" flipV="false" rot="0">
              <a:off x="0" y="0"/>
              <a:ext cx="3127469" cy="435767"/>
            </a:xfrm>
            <a:custGeom>
              <a:avLst/>
              <a:gdLst/>
              <a:ahLst/>
              <a:cxnLst/>
              <a:rect r="r" b="b" t="t" l="l"/>
              <a:pathLst>
                <a:path h="435767" w="3127469">
                  <a:moveTo>
                    <a:pt x="33251" y="0"/>
                  </a:moveTo>
                  <a:lnTo>
                    <a:pt x="3094218" y="0"/>
                  </a:lnTo>
                  <a:cubicBezTo>
                    <a:pt x="3112582" y="0"/>
                    <a:pt x="3127469" y="14887"/>
                    <a:pt x="3127469" y="33251"/>
                  </a:cubicBezTo>
                  <a:lnTo>
                    <a:pt x="3127469" y="402517"/>
                  </a:lnTo>
                  <a:cubicBezTo>
                    <a:pt x="3127469" y="411335"/>
                    <a:pt x="3123966" y="419793"/>
                    <a:pt x="3117730" y="426028"/>
                  </a:cubicBezTo>
                  <a:cubicBezTo>
                    <a:pt x="3111494" y="432264"/>
                    <a:pt x="3103037" y="435767"/>
                    <a:pt x="3094218" y="435767"/>
                  </a:cubicBezTo>
                  <a:lnTo>
                    <a:pt x="33251" y="435767"/>
                  </a:lnTo>
                  <a:cubicBezTo>
                    <a:pt x="24432" y="435767"/>
                    <a:pt x="15975" y="432264"/>
                    <a:pt x="9739" y="426028"/>
                  </a:cubicBezTo>
                  <a:cubicBezTo>
                    <a:pt x="3503" y="419793"/>
                    <a:pt x="0" y="411335"/>
                    <a:pt x="0" y="402517"/>
                  </a:cubicBezTo>
                  <a:lnTo>
                    <a:pt x="0" y="33251"/>
                  </a:lnTo>
                  <a:cubicBezTo>
                    <a:pt x="0" y="24432"/>
                    <a:pt x="3503" y="15975"/>
                    <a:pt x="9739" y="9739"/>
                  </a:cubicBezTo>
                  <a:cubicBezTo>
                    <a:pt x="15975" y="3503"/>
                    <a:pt x="24432" y="0"/>
                    <a:pt x="33251" y="0"/>
                  </a:cubicBezTo>
                  <a:close/>
                </a:path>
              </a:pathLst>
            </a:custGeom>
            <a:solidFill>
              <a:srgbClr val="FFDE59"/>
            </a:solidFill>
            <a:ln w="19050" cap="rnd">
              <a:solidFill>
                <a:srgbClr val="2A2A2A"/>
              </a:solidFill>
              <a:prstDash val="solid"/>
              <a:round/>
            </a:ln>
          </p:spPr>
        </p:sp>
        <p:sp>
          <p:nvSpPr>
            <p:cNvPr name="TextBox 17" id="17"/>
            <p:cNvSpPr txBox="true"/>
            <p:nvPr/>
          </p:nvSpPr>
          <p:spPr>
            <a:xfrm>
              <a:off x="0" y="-114300"/>
              <a:ext cx="3127469" cy="550067"/>
            </a:xfrm>
            <a:prstGeom prst="rect">
              <a:avLst/>
            </a:prstGeom>
          </p:spPr>
          <p:txBody>
            <a:bodyPr anchor="ctr" rtlCol="false" tIns="50800" lIns="50800" bIns="50800" rIns="50800"/>
            <a:lstStyle/>
            <a:p>
              <a:pPr algn="ctr">
                <a:lnSpc>
                  <a:spcPts val="8259"/>
                </a:lnSpc>
              </a:pPr>
              <a:r>
                <a:rPr lang="en-US" b="true" sz="5899">
                  <a:solidFill>
                    <a:srgbClr val="2A2A2A"/>
                  </a:solidFill>
                  <a:latin typeface="Montserrat Bold"/>
                  <a:ea typeface="Montserrat Bold"/>
                  <a:cs typeface="Montserrat Bold"/>
                  <a:sym typeface="Montserrat Bold"/>
                </a:rPr>
                <a:t>BUSINESS UNDERSTANDING</a:t>
              </a:r>
            </a:p>
          </p:txBody>
        </p:sp>
      </p:grpSp>
      <p:sp>
        <p:nvSpPr>
          <p:cNvPr name="TextBox 18" id="18"/>
          <p:cNvSpPr txBox="true"/>
          <p:nvPr/>
        </p:nvSpPr>
        <p:spPr>
          <a:xfrm rot="0">
            <a:off x="1028700" y="3631419"/>
            <a:ext cx="16230600" cy="1234440"/>
          </a:xfrm>
          <a:prstGeom prst="rect">
            <a:avLst/>
          </a:prstGeom>
        </p:spPr>
        <p:txBody>
          <a:bodyPr anchor="t" rtlCol="false" tIns="0" lIns="0" bIns="0" rIns="0">
            <a:spAutoFit/>
          </a:bodyPr>
          <a:lstStyle/>
          <a:p>
            <a:pPr algn="just">
              <a:lnSpc>
                <a:spcPts val="3359"/>
              </a:lnSpc>
              <a:spcBef>
                <a:spcPct val="0"/>
              </a:spcBef>
            </a:pPr>
            <a:r>
              <a:rPr lang="en-US" sz="2399">
                <a:solidFill>
                  <a:srgbClr val="2A2A2A"/>
                </a:solidFill>
                <a:latin typeface="Montserrat"/>
                <a:ea typeface="Montserrat"/>
                <a:cs typeface="Montserrat"/>
                <a:sym typeface="Montserrat"/>
              </a:rPr>
              <a:t>The company generates a large volume of sales transaction data from its daily operations. However, the available data has not been fully utilized to provide actionable insights that support strategic decision-making.</a:t>
            </a:r>
          </a:p>
        </p:txBody>
      </p:sp>
      <p:sp>
        <p:nvSpPr>
          <p:cNvPr name="TextBox 19" id="19"/>
          <p:cNvSpPr txBox="true"/>
          <p:nvPr/>
        </p:nvSpPr>
        <p:spPr>
          <a:xfrm rot="0">
            <a:off x="1028700" y="2589333"/>
            <a:ext cx="6188273" cy="887095"/>
          </a:xfrm>
          <a:prstGeom prst="rect">
            <a:avLst/>
          </a:prstGeom>
        </p:spPr>
        <p:txBody>
          <a:bodyPr anchor="t" rtlCol="false" tIns="0" lIns="0" bIns="0" rIns="0">
            <a:spAutoFit/>
          </a:bodyPr>
          <a:lstStyle/>
          <a:p>
            <a:pPr algn="ctr">
              <a:lnSpc>
                <a:spcPts val="7279"/>
              </a:lnSpc>
            </a:pPr>
            <a:r>
              <a:rPr lang="en-US" sz="5199" b="true">
                <a:solidFill>
                  <a:srgbClr val="2A2A2A"/>
                </a:solidFill>
                <a:latin typeface="Open Sans Bold"/>
                <a:ea typeface="Open Sans Bold"/>
                <a:cs typeface="Open Sans Bold"/>
                <a:sym typeface="Open Sans Bold"/>
              </a:rPr>
              <a:t>Business Objective</a:t>
            </a:r>
          </a:p>
        </p:txBody>
      </p:sp>
      <p:sp>
        <p:nvSpPr>
          <p:cNvPr name="TextBox 20" id="20"/>
          <p:cNvSpPr txBox="true"/>
          <p:nvPr/>
        </p:nvSpPr>
        <p:spPr>
          <a:xfrm rot="0">
            <a:off x="1028700" y="4827760"/>
            <a:ext cx="16230600" cy="3329940"/>
          </a:xfrm>
          <a:prstGeom prst="rect">
            <a:avLst/>
          </a:prstGeom>
        </p:spPr>
        <p:txBody>
          <a:bodyPr anchor="t" rtlCol="false" tIns="0" lIns="0" bIns="0" rIns="0">
            <a:spAutoFit/>
          </a:bodyPr>
          <a:lstStyle/>
          <a:p>
            <a:pPr algn="just">
              <a:lnSpc>
                <a:spcPts val="3359"/>
              </a:lnSpc>
            </a:pPr>
            <a:r>
              <a:rPr lang="en-US" sz="2399">
                <a:solidFill>
                  <a:srgbClr val="2A2A2A"/>
                </a:solidFill>
                <a:latin typeface="Montserrat"/>
                <a:ea typeface="Montserrat"/>
                <a:cs typeface="Montserrat"/>
                <a:sym typeface="Montserrat"/>
              </a:rPr>
              <a:t>As a result, management faces challenges in:</a:t>
            </a:r>
          </a:p>
          <a:p>
            <a:pPr algn="just" marL="518157" indent="-259078" lvl="1">
              <a:lnSpc>
                <a:spcPts val="3359"/>
              </a:lnSpc>
              <a:spcBef>
                <a:spcPct val="0"/>
              </a:spcBef>
              <a:buFont typeface="Arial"/>
              <a:buChar char="•"/>
            </a:pPr>
            <a:r>
              <a:rPr lang="en-US" sz="2399">
                <a:solidFill>
                  <a:srgbClr val="2A2A2A"/>
                </a:solidFill>
                <a:latin typeface="Montserrat"/>
                <a:ea typeface="Montserrat"/>
                <a:cs typeface="Montserrat"/>
                <a:sym typeface="Montserrat"/>
              </a:rPr>
              <a:t>Monitoring ov</a:t>
            </a:r>
            <a:r>
              <a:rPr lang="en-US" sz="2399">
                <a:solidFill>
                  <a:srgbClr val="2A2A2A"/>
                </a:solidFill>
                <a:latin typeface="Montserrat"/>
                <a:ea typeface="Montserrat"/>
                <a:cs typeface="Montserrat"/>
                <a:sym typeface="Montserrat"/>
              </a:rPr>
              <a:t>erall sales performance effectively.</a:t>
            </a:r>
          </a:p>
          <a:p>
            <a:pPr algn="just" marL="518157" indent="-259078" lvl="1">
              <a:lnSpc>
                <a:spcPts val="3359"/>
              </a:lnSpc>
              <a:spcBef>
                <a:spcPct val="0"/>
              </a:spcBef>
              <a:buFont typeface="Arial"/>
              <a:buChar char="•"/>
            </a:pPr>
            <a:r>
              <a:rPr lang="en-US" sz="2399">
                <a:solidFill>
                  <a:srgbClr val="2A2A2A"/>
                </a:solidFill>
                <a:latin typeface="Montserrat"/>
                <a:ea typeface="Montserrat"/>
                <a:cs typeface="Montserrat"/>
                <a:sym typeface="Montserrat"/>
              </a:rPr>
              <a:t>Identifying products and categories that contribute the most to revenue.</a:t>
            </a:r>
          </a:p>
          <a:p>
            <a:pPr algn="just" marL="518157" indent="-259078" lvl="1">
              <a:lnSpc>
                <a:spcPts val="3359"/>
              </a:lnSpc>
              <a:spcBef>
                <a:spcPct val="0"/>
              </a:spcBef>
              <a:buFont typeface="Arial"/>
              <a:buChar char="•"/>
            </a:pPr>
            <a:r>
              <a:rPr lang="en-US" sz="2399">
                <a:solidFill>
                  <a:srgbClr val="2A2A2A"/>
                </a:solidFill>
                <a:latin typeface="Montserrat"/>
                <a:ea typeface="Montserrat"/>
                <a:cs typeface="Montserrat"/>
                <a:sym typeface="Montserrat"/>
              </a:rPr>
              <a:t>Understanding sales trends over time.</a:t>
            </a:r>
          </a:p>
          <a:p>
            <a:pPr algn="just" marL="518157" indent="-259078" lvl="1">
              <a:lnSpc>
                <a:spcPts val="3359"/>
              </a:lnSpc>
              <a:spcBef>
                <a:spcPct val="0"/>
              </a:spcBef>
              <a:buFont typeface="Arial"/>
              <a:buChar char="•"/>
            </a:pPr>
            <a:r>
              <a:rPr lang="en-US" sz="2399">
                <a:solidFill>
                  <a:srgbClr val="2A2A2A"/>
                </a:solidFill>
                <a:latin typeface="Montserrat"/>
                <a:ea typeface="Montserrat"/>
                <a:cs typeface="Montserrat"/>
                <a:sym typeface="Montserrat"/>
              </a:rPr>
              <a:t>Analyzing customer segments and purchasing behavior.</a:t>
            </a:r>
          </a:p>
          <a:p>
            <a:pPr algn="just" marL="518157" indent="-259078" lvl="1">
              <a:lnSpc>
                <a:spcPts val="3359"/>
              </a:lnSpc>
              <a:spcBef>
                <a:spcPct val="0"/>
              </a:spcBef>
              <a:buFont typeface="Arial"/>
              <a:buChar char="•"/>
            </a:pPr>
            <a:r>
              <a:rPr lang="en-US" sz="2399">
                <a:solidFill>
                  <a:srgbClr val="2A2A2A"/>
                </a:solidFill>
                <a:latin typeface="Montserrat"/>
                <a:ea typeface="Montserrat"/>
                <a:cs typeface="Montserrat"/>
                <a:sym typeface="Montserrat"/>
              </a:rPr>
              <a:t>Identifying customers' preferred payment methods.</a:t>
            </a:r>
          </a:p>
          <a:p>
            <a:pPr algn="just" marL="518157" indent="-259078" lvl="1">
              <a:lnSpc>
                <a:spcPts val="3359"/>
              </a:lnSpc>
              <a:spcBef>
                <a:spcPct val="0"/>
              </a:spcBef>
              <a:buFont typeface="Arial"/>
              <a:buChar char="•"/>
            </a:pPr>
            <a:r>
              <a:rPr lang="en-US" sz="2399">
                <a:solidFill>
                  <a:srgbClr val="2A2A2A"/>
                </a:solidFill>
                <a:latin typeface="Montserrat"/>
                <a:ea typeface="Montserrat"/>
                <a:cs typeface="Montserrat"/>
                <a:sym typeface="Montserrat"/>
              </a:rPr>
              <a:t>Making data-driven decisions to improve business performance and increase revenue.</a:t>
            </a:r>
          </a:p>
          <a:p>
            <a:pPr algn="just">
              <a:lnSpc>
                <a:spcPts val="3359"/>
              </a:lnSpc>
              <a:spcBef>
                <a:spcPct val="0"/>
              </a:spcBef>
            </a:pPr>
          </a:p>
        </p:txBody>
      </p:sp>
      <p:grpSp>
        <p:nvGrpSpPr>
          <p:cNvPr name="Group 21" id="21"/>
          <p:cNvGrpSpPr/>
          <p:nvPr/>
        </p:nvGrpSpPr>
        <p:grpSpPr>
          <a:xfrm rot="0">
            <a:off x="15759630" y="657760"/>
            <a:ext cx="2009749" cy="741881"/>
            <a:chOff x="0" y="0"/>
            <a:chExt cx="2679666" cy="989175"/>
          </a:xfrm>
        </p:grpSpPr>
        <p:grpSp>
          <p:nvGrpSpPr>
            <p:cNvPr name="Group 22" id="22"/>
            <p:cNvGrpSpPr/>
            <p:nvPr/>
          </p:nvGrpSpPr>
          <p:grpSpPr>
            <a:xfrm rot="0">
              <a:off x="0" y="0"/>
              <a:ext cx="2679666" cy="989175"/>
              <a:chOff x="0" y="0"/>
              <a:chExt cx="529317" cy="195393"/>
            </a:xfrm>
          </p:grpSpPr>
          <p:sp>
            <p:nvSpPr>
              <p:cNvPr name="Freeform 23" id="23"/>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1D606E"/>
              </a:solidFill>
              <a:ln w="19050" cap="rnd">
                <a:solidFill>
                  <a:srgbClr val="2A2A2A"/>
                </a:solidFill>
                <a:prstDash val="solid"/>
                <a:round/>
              </a:ln>
            </p:spPr>
          </p:sp>
          <p:sp>
            <p:nvSpPr>
              <p:cNvPr name="TextBox 24" id="24"/>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25" id="25"/>
            <p:cNvSpPr/>
            <p:nvPr/>
          </p:nvSpPr>
          <p:spPr>
            <a:xfrm>
              <a:off x="719436" y="494587"/>
              <a:ext cx="1171216" cy="0"/>
            </a:xfrm>
            <a:prstGeom prst="line">
              <a:avLst/>
            </a:prstGeom>
            <a:ln cap="flat" w="76200">
              <a:solidFill>
                <a:srgbClr val="FFFFFF"/>
              </a:solidFill>
              <a:prstDash val="solid"/>
              <a:headEnd type="none" len="sm" w="sm"/>
              <a:tailEnd type="arrow" len="sm" w="med"/>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256071" y="2399840"/>
            <a:ext cx="18800143" cy="5251134"/>
            <a:chOff x="0" y="0"/>
            <a:chExt cx="4951478" cy="1383015"/>
          </a:xfrm>
        </p:grpSpPr>
        <p:sp>
          <p:nvSpPr>
            <p:cNvPr name="Freeform 13" id="13"/>
            <p:cNvSpPr/>
            <p:nvPr/>
          </p:nvSpPr>
          <p:spPr>
            <a:xfrm flipH="false" flipV="false" rot="0">
              <a:off x="0" y="0"/>
              <a:ext cx="4951478" cy="1383015"/>
            </a:xfrm>
            <a:custGeom>
              <a:avLst/>
              <a:gdLst/>
              <a:ahLst/>
              <a:cxnLst/>
              <a:rect r="r" b="b" t="t" l="l"/>
              <a:pathLst>
                <a:path h="1383015" w="4951478">
                  <a:moveTo>
                    <a:pt x="0" y="0"/>
                  </a:moveTo>
                  <a:lnTo>
                    <a:pt x="4951478" y="0"/>
                  </a:lnTo>
                  <a:lnTo>
                    <a:pt x="4951478" y="1383015"/>
                  </a:lnTo>
                  <a:lnTo>
                    <a:pt x="0" y="1383015"/>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4951478" cy="1421115"/>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392635" y="389425"/>
            <a:ext cx="11874608" cy="1654553"/>
            <a:chOff x="0" y="0"/>
            <a:chExt cx="3127469" cy="435767"/>
          </a:xfrm>
        </p:grpSpPr>
        <p:sp>
          <p:nvSpPr>
            <p:cNvPr name="Freeform 16" id="16"/>
            <p:cNvSpPr/>
            <p:nvPr/>
          </p:nvSpPr>
          <p:spPr>
            <a:xfrm flipH="false" flipV="false" rot="0">
              <a:off x="0" y="0"/>
              <a:ext cx="3127469" cy="435767"/>
            </a:xfrm>
            <a:custGeom>
              <a:avLst/>
              <a:gdLst/>
              <a:ahLst/>
              <a:cxnLst/>
              <a:rect r="r" b="b" t="t" l="l"/>
              <a:pathLst>
                <a:path h="435767" w="3127469">
                  <a:moveTo>
                    <a:pt x="33251" y="0"/>
                  </a:moveTo>
                  <a:lnTo>
                    <a:pt x="3094218" y="0"/>
                  </a:lnTo>
                  <a:cubicBezTo>
                    <a:pt x="3112582" y="0"/>
                    <a:pt x="3127469" y="14887"/>
                    <a:pt x="3127469" y="33251"/>
                  </a:cubicBezTo>
                  <a:lnTo>
                    <a:pt x="3127469" y="402517"/>
                  </a:lnTo>
                  <a:cubicBezTo>
                    <a:pt x="3127469" y="411335"/>
                    <a:pt x="3123966" y="419793"/>
                    <a:pt x="3117730" y="426028"/>
                  </a:cubicBezTo>
                  <a:cubicBezTo>
                    <a:pt x="3111494" y="432264"/>
                    <a:pt x="3103037" y="435767"/>
                    <a:pt x="3094218" y="435767"/>
                  </a:cubicBezTo>
                  <a:lnTo>
                    <a:pt x="33251" y="435767"/>
                  </a:lnTo>
                  <a:cubicBezTo>
                    <a:pt x="24432" y="435767"/>
                    <a:pt x="15975" y="432264"/>
                    <a:pt x="9739" y="426028"/>
                  </a:cubicBezTo>
                  <a:cubicBezTo>
                    <a:pt x="3503" y="419793"/>
                    <a:pt x="0" y="411335"/>
                    <a:pt x="0" y="402517"/>
                  </a:cubicBezTo>
                  <a:lnTo>
                    <a:pt x="0" y="33251"/>
                  </a:lnTo>
                  <a:cubicBezTo>
                    <a:pt x="0" y="24432"/>
                    <a:pt x="3503" y="15975"/>
                    <a:pt x="9739" y="9739"/>
                  </a:cubicBezTo>
                  <a:cubicBezTo>
                    <a:pt x="15975" y="3503"/>
                    <a:pt x="24432" y="0"/>
                    <a:pt x="33251" y="0"/>
                  </a:cubicBezTo>
                  <a:close/>
                </a:path>
              </a:pathLst>
            </a:custGeom>
            <a:solidFill>
              <a:srgbClr val="FFDE59"/>
            </a:solidFill>
            <a:ln w="19050" cap="rnd">
              <a:solidFill>
                <a:srgbClr val="2A2A2A"/>
              </a:solidFill>
              <a:prstDash val="solid"/>
              <a:round/>
            </a:ln>
          </p:spPr>
        </p:sp>
        <p:sp>
          <p:nvSpPr>
            <p:cNvPr name="TextBox 17" id="17"/>
            <p:cNvSpPr txBox="true"/>
            <p:nvPr/>
          </p:nvSpPr>
          <p:spPr>
            <a:xfrm>
              <a:off x="0" y="-114300"/>
              <a:ext cx="3127469" cy="550067"/>
            </a:xfrm>
            <a:prstGeom prst="rect">
              <a:avLst/>
            </a:prstGeom>
          </p:spPr>
          <p:txBody>
            <a:bodyPr anchor="ctr" rtlCol="false" tIns="50800" lIns="50800" bIns="50800" rIns="50800"/>
            <a:lstStyle/>
            <a:p>
              <a:pPr algn="ctr">
                <a:lnSpc>
                  <a:spcPts val="8259"/>
                </a:lnSpc>
              </a:pPr>
              <a:r>
                <a:rPr lang="en-US" b="true" sz="5899">
                  <a:solidFill>
                    <a:srgbClr val="2A2A2A"/>
                  </a:solidFill>
                  <a:latin typeface="Montserrat Bold"/>
                  <a:ea typeface="Montserrat Bold"/>
                  <a:cs typeface="Montserrat Bold"/>
                  <a:sym typeface="Montserrat Bold"/>
                </a:rPr>
                <a:t>BUSINESS UNDERSTANDING</a:t>
              </a:r>
            </a:p>
          </p:txBody>
        </p:sp>
      </p:grpSp>
      <p:grpSp>
        <p:nvGrpSpPr>
          <p:cNvPr name="Group 18" id="18"/>
          <p:cNvGrpSpPr/>
          <p:nvPr/>
        </p:nvGrpSpPr>
        <p:grpSpPr>
          <a:xfrm rot="0">
            <a:off x="15718457" y="703955"/>
            <a:ext cx="2009749" cy="741881"/>
            <a:chOff x="0" y="0"/>
            <a:chExt cx="2679666" cy="989175"/>
          </a:xfrm>
        </p:grpSpPr>
        <p:grpSp>
          <p:nvGrpSpPr>
            <p:cNvPr name="Group 19" id="19"/>
            <p:cNvGrpSpPr/>
            <p:nvPr/>
          </p:nvGrpSpPr>
          <p:grpSpPr>
            <a:xfrm rot="0">
              <a:off x="0" y="0"/>
              <a:ext cx="2679666" cy="989175"/>
              <a:chOff x="0" y="0"/>
              <a:chExt cx="529317" cy="195393"/>
            </a:xfrm>
          </p:grpSpPr>
          <p:sp>
            <p:nvSpPr>
              <p:cNvPr name="Freeform 20" id="20"/>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1D606E"/>
              </a:solidFill>
              <a:ln w="19050" cap="rnd">
                <a:solidFill>
                  <a:srgbClr val="2A2A2A"/>
                </a:solidFill>
                <a:prstDash val="solid"/>
                <a:round/>
              </a:ln>
            </p:spPr>
          </p:sp>
          <p:sp>
            <p:nvSpPr>
              <p:cNvPr name="TextBox 21" id="21"/>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22" id="22"/>
            <p:cNvSpPr/>
            <p:nvPr/>
          </p:nvSpPr>
          <p:spPr>
            <a:xfrm>
              <a:off x="719436" y="494587"/>
              <a:ext cx="1171216" cy="0"/>
            </a:xfrm>
            <a:prstGeom prst="line">
              <a:avLst/>
            </a:prstGeom>
            <a:ln cap="flat" w="76200">
              <a:solidFill>
                <a:srgbClr val="FFFFFF"/>
              </a:solidFill>
              <a:prstDash val="solid"/>
              <a:headEnd type="none" len="sm" w="sm"/>
              <a:tailEnd type="arrow" len="sm" w="med"/>
            </a:ln>
          </p:spPr>
        </p:sp>
      </p:grpSp>
      <p:sp>
        <p:nvSpPr>
          <p:cNvPr name="TextBox 23" id="23"/>
          <p:cNvSpPr txBox="true"/>
          <p:nvPr/>
        </p:nvSpPr>
        <p:spPr>
          <a:xfrm rot="0">
            <a:off x="1028700" y="3482834"/>
            <a:ext cx="16230600" cy="4168140"/>
          </a:xfrm>
          <a:prstGeom prst="rect">
            <a:avLst/>
          </a:prstGeom>
        </p:spPr>
        <p:txBody>
          <a:bodyPr anchor="t" rtlCol="false" tIns="0" lIns="0" bIns="0" rIns="0">
            <a:spAutoFit/>
          </a:bodyPr>
          <a:lstStyle/>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Moni</a:t>
            </a:r>
            <a:r>
              <a:rPr lang="en-US" sz="2399">
                <a:solidFill>
                  <a:srgbClr val="2A2A2A"/>
                </a:solidFill>
                <a:latin typeface="Montserrat"/>
                <a:ea typeface="Montserrat"/>
                <a:cs typeface="Montserrat"/>
                <a:sym typeface="Montserrat"/>
              </a:rPr>
              <a:t>tor key sales performance indicators, including </a:t>
            </a:r>
            <a:r>
              <a:rPr lang="en-US" b="true" sz="2399">
                <a:solidFill>
                  <a:srgbClr val="2A2A2A"/>
                </a:solidFill>
                <a:latin typeface="Montserrat Bold"/>
                <a:ea typeface="Montserrat Bold"/>
                <a:cs typeface="Montserrat Bold"/>
                <a:sym typeface="Montserrat Bold"/>
              </a:rPr>
              <a:t>Revenue, Total Orders, and Quantity Sold</a:t>
            </a:r>
            <a:r>
              <a:rPr lang="en-US" sz="2399">
                <a:solidFill>
                  <a:srgbClr val="2A2A2A"/>
                </a:solidFill>
                <a:latin typeface="Montserrat"/>
                <a:ea typeface="Montserrat"/>
                <a:cs typeface="Montserrat"/>
                <a:sym typeface="Montserrat"/>
              </a:rPr>
              <a:t>.</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Identify top-performing products that generate the highest revenue contribution.</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Analyze product category performance to understand which categories drive sales growth.</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Evaluate sales trends over time to identify growth opportunities and potential declines.</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Understand customer distribution based on customer type.</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Analyze customer payment preferences across different payment methods.</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Apply Pareto Analysis to identify products that contribute the majority of total revenue.</a:t>
            </a:r>
          </a:p>
          <a:p>
            <a:pPr algn="l" marL="518157" indent="-259078" lvl="1">
              <a:lnSpc>
                <a:spcPts val="3359"/>
              </a:lnSpc>
              <a:buFont typeface="Arial"/>
              <a:buChar char="•"/>
            </a:pPr>
            <a:r>
              <a:rPr lang="en-US" sz="2399">
                <a:solidFill>
                  <a:srgbClr val="2A2A2A"/>
                </a:solidFill>
                <a:latin typeface="Montserrat"/>
                <a:ea typeface="Montserrat"/>
                <a:cs typeface="Montserrat"/>
                <a:sym typeface="Montserrat"/>
              </a:rPr>
              <a:t>Provide data-driven recommendations to support business decision-making and improve overall sales performance.</a:t>
            </a:r>
          </a:p>
          <a:p>
            <a:pPr algn="just">
              <a:lnSpc>
                <a:spcPts val="3359"/>
              </a:lnSpc>
              <a:spcBef>
                <a:spcPct val="0"/>
              </a:spcBef>
            </a:pPr>
          </a:p>
        </p:txBody>
      </p:sp>
      <p:sp>
        <p:nvSpPr>
          <p:cNvPr name="TextBox 24" id="24"/>
          <p:cNvSpPr txBox="true"/>
          <p:nvPr/>
        </p:nvSpPr>
        <p:spPr>
          <a:xfrm rot="0">
            <a:off x="1028700" y="2545087"/>
            <a:ext cx="5840968" cy="887095"/>
          </a:xfrm>
          <a:prstGeom prst="rect">
            <a:avLst/>
          </a:prstGeom>
        </p:spPr>
        <p:txBody>
          <a:bodyPr anchor="t" rtlCol="false" tIns="0" lIns="0" bIns="0" rIns="0">
            <a:spAutoFit/>
          </a:bodyPr>
          <a:lstStyle/>
          <a:p>
            <a:pPr algn="ctr">
              <a:lnSpc>
                <a:spcPts val="7279"/>
              </a:lnSpc>
            </a:pPr>
            <a:r>
              <a:rPr lang="en-US" sz="5199" b="true">
                <a:solidFill>
                  <a:srgbClr val="2A2A2A"/>
                </a:solidFill>
                <a:latin typeface="Open Sans Bold"/>
                <a:ea typeface="Open Sans Bold"/>
                <a:cs typeface="Open Sans Bold"/>
                <a:sym typeface="Open Sans Bold"/>
              </a:rPr>
              <a:t>Business Problem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9149"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1785320" y="-371285"/>
            <a:ext cx="14717360" cy="2653018"/>
            <a:chOff x="0" y="0"/>
            <a:chExt cx="3876177" cy="698737"/>
          </a:xfrm>
        </p:grpSpPr>
        <p:sp>
          <p:nvSpPr>
            <p:cNvPr name="Freeform 13" id="13"/>
            <p:cNvSpPr/>
            <p:nvPr/>
          </p:nvSpPr>
          <p:spPr>
            <a:xfrm flipH="false" flipV="false" rot="0">
              <a:off x="0" y="0"/>
              <a:ext cx="3876177" cy="698737"/>
            </a:xfrm>
            <a:custGeom>
              <a:avLst/>
              <a:gdLst/>
              <a:ahLst/>
              <a:cxnLst/>
              <a:rect r="r" b="b" t="t" l="l"/>
              <a:pathLst>
                <a:path h="698737" w="3876177">
                  <a:moveTo>
                    <a:pt x="0" y="0"/>
                  </a:moveTo>
                  <a:lnTo>
                    <a:pt x="3876177" y="0"/>
                  </a:lnTo>
                  <a:lnTo>
                    <a:pt x="3876177" y="698737"/>
                  </a:lnTo>
                  <a:lnTo>
                    <a:pt x="0" y="698737"/>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3876177" cy="736837"/>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5470832" y="8887360"/>
            <a:ext cx="2009749" cy="741881"/>
            <a:chOff x="0" y="0"/>
            <a:chExt cx="2679666" cy="989175"/>
          </a:xfrm>
        </p:grpSpPr>
        <p:grpSp>
          <p:nvGrpSpPr>
            <p:cNvPr name="Group 16" id="16"/>
            <p:cNvGrpSpPr/>
            <p:nvPr/>
          </p:nvGrpSpPr>
          <p:grpSpPr>
            <a:xfrm rot="0">
              <a:off x="0" y="0"/>
              <a:ext cx="2679666" cy="989175"/>
              <a:chOff x="0" y="0"/>
              <a:chExt cx="529317" cy="195393"/>
            </a:xfrm>
          </p:grpSpPr>
          <p:sp>
            <p:nvSpPr>
              <p:cNvPr name="Freeform 17" id="17"/>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FFDE59"/>
              </a:solidFill>
              <a:ln w="19050" cap="rnd">
                <a:solidFill>
                  <a:srgbClr val="2A2A2A"/>
                </a:solidFill>
                <a:prstDash val="solid"/>
                <a:round/>
              </a:ln>
            </p:spPr>
          </p:sp>
          <p:sp>
            <p:nvSpPr>
              <p:cNvPr name="TextBox 18" id="18"/>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19" id="19"/>
            <p:cNvSpPr/>
            <p:nvPr/>
          </p:nvSpPr>
          <p:spPr>
            <a:xfrm>
              <a:off x="719436" y="494587"/>
              <a:ext cx="1171216" cy="0"/>
            </a:xfrm>
            <a:prstGeom prst="line">
              <a:avLst/>
            </a:prstGeom>
            <a:ln cap="flat" w="76200">
              <a:solidFill>
                <a:srgbClr val="2A2A2A"/>
              </a:solidFill>
              <a:prstDash val="solid"/>
              <a:headEnd type="none" len="sm" w="sm"/>
              <a:tailEnd type="arrow" len="sm" w="med"/>
            </a:ln>
          </p:spPr>
        </p:sp>
      </p:grpSp>
      <p:grpSp>
        <p:nvGrpSpPr>
          <p:cNvPr name="Group 20" id="20"/>
          <p:cNvGrpSpPr/>
          <p:nvPr/>
        </p:nvGrpSpPr>
        <p:grpSpPr>
          <a:xfrm rot="0">
            <a:off x="1581767" y="5553909"/>
            <a:ext cx="6130916" cy="1316093"/>
            <a:chOff x="0" y="0"/>
            <a:chExt cx="1614727" cy="346625"/>
          </a:xfrm>
        </p:grpSpPr>
        <p:sp>
          <p:nvSpPr>
            <p:cNvPr name="Freeform 21" id="21"/>
            <p:cNvSpPr/>
            <p:nvPr/>
          </p:nvSpPr>
          <p:spPr>
            <a:xfrm flipH="false" flipV="false" rot="0">
              <a:off x="0" y="0"/>
              <a:ext cx="1614727" cy="346625"/>
            </a:xfrm>
            <a:custGeom>
              <a:avLst/>
              <a:gdLst/>
              <a:ahLst/>
              <a:cxnLst/>
              <a:rect r="r" b="b" t="t" l="l"/>
              <a:pathLst>
                <a:path h="346625" w="1614727">
                  <a:moveTo>
                    <a:pt x="0" y="0"/>
                  </a:moveTo>
                  <a:lnTo>
                    <a:pt x="1614727" y="0"/>
                  </a:lnTo>
                  <a:lnTo>
                    <a:pt x="1614727" y="346625"/>
                  </a:lnTo>
                  <a:lnTo>
                    <a:pt x="0" y="346625"/>
                  </a:lnTo>
                  <a:close/>
                </a:path>
              </a:pathLst>
            </a:custGeom>
            <a:solidFill>
              <a:srgbClr val="FFFFFF"/>
            </a:solidFill>
            <a:ln w="38100" cap="sq">
              <a:solidFill>
                <a:srgbClr val="2A2A2A"/>
              </a:solidFill>
              <a:prstDash val="solid"/>
              <a:miter/>
            </a:ln>
          </p:spPr>
        </p:sp>
        <p:sp>
          <p:nvSpPr>
            <p:cNvPr name="TextBox 22" id="22"/>
            <p:cNvSpPr txBox="true"/>
            <p:nvPr/>
          </p:nvSpPr>
          <p:spPr>
            <a:xfrm>
              <a:off x="0" y="-38100"/>
              <a:ext cx="1614727" cy="384725"/>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9187446" y="3029119"/>
            <a:ext cx="6764312" cy="6937143"/>
            <a:chOff x="0" y="0"/>
            <a:chExt cx="1781547" cy="1827066"/>
          </a:xfrm>
        </p:grpSpPr>
        <p:sp>
          <p:nvSpPr>
            <p:cNvPr name="Freeform 24" id="24"/>
            <p:cNvSpPr/>
            <p:nvPr/>
          </p:nvSpPr>
          <p:spPr>
            <a:xfrm flipH="false" flipV="false" rot="0">
              <a:off x="0" y="0"/>
              <a:ext cx="1781547" cy="1827066"/>
            </a:xfrm>
            <a:custGeom>
              <a:avLst/>
              <a:gdLst/>
              <a:ahLst/>
              <a:cxnLst/>
              <a:rect r="r" b="b" t="t" l="l"/>
              <a:pathLst>
                <a:path h="1827066" w="1781547">
                  <a:moveTo>
                    <a:pt x="0" y="0"/>
                  </a:moveTo>
                  <a:lnTo>
                    <a:pt x="1781547" y="0"/>
                  </a:lnTo>
                  <a:lnTo>
                    <a:pt x="1781547" y="1827066"/>
                  </a:lnTo>
                  <a:lnTo>
                    <a:pt x="0" y="1827066"/>
                  </a:lnTo>
                  <a:close/>
                </a:path>
              </a:pathLst>
            </a:custGeom>
            <a:solidFill>
              <a:srgbClr val="FFFFFF"/>
            </a:solidFill>
            <a:ln w="38100" cap="sq">
              <a:solidFill>
                <a:srgbClr val="2A2A2A"/>
              </a:solidFill>
              <a:prstDash val="solid"/>
              <a:miter/>
            </a:ln>
          </p:spPr>
        </p:sp>
        <p:sp>
          <p:nvSpPr>
            <p:cNvPr name="TextBox 25" id="25"/>
            <p:cNvSpPr txBox="true"/>
            <p:nvPr/>
          </p:nvSpPr>
          <p:spPr>
            <a:xfrm>
              <a:off x="0" y="-38100"/>
              <a:ext cx="1781547" cy="1865166"/>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2706343" y="5080595"/>
            <a:ext cx="3881764" cy="946627"/>
            <a:chOff x="0" y="0"/>
            <a:chExt cx="1022358" cy="249317"/>
          </a:xfrm>
        </p:grpSpPr>
        <p:sp>
          <p:nvSpPr>
            <p:cNvPr name="Freeform 27" id="27"/>
            <p:cNvSpPr/>
            <p:nvPr/>
          </p:nvSpPr>
          <p:spPr>
            <a:xfrm flipH="false" flipV="false" rot="0">
              <a:off x="0" y="0"/>
              <a:ext cx="1022358" cy="249317"/>
            </a:xfrm>
            <a:custGeom>
              <a:avLst/>
              <a:gdLst/>
              <a:ahLst/>
              <a:cxnLst/>
              <a:rect r="r" b="b" t="t" l="l"/>
              <a:pathLst>
                <a:path h="249317" w="1022358">
                  <a:moveTo>
                    <a:pt x="0" y="0"/>
                  </a:moveTo>
                  <a:lnTo>
                    <a:pt x="1022358" y="0"/>
                  </a:lnTo>
                  <a:lnTo>
                    <a:pt x="1022358" y="249317"/>
                  </a:lnTo>
                  <a:lnTo>
                    <a:pt x="0" y="249317"/>
                  </a:lnTo>
                  <a:close/>
                </a:path>
              </a:pathLst>
            </a:custGeom>
            <a:solidFill>
              <a:srgbClr val="FFDE59"/>
            </a:solidFill>
            <a:ln w="19050" cap="sq">
              <a:solidFill>
                <a:srgbClr val="2A2A2A"/>
              </a:solidFill>
              <a:prstDash val="solid"/>
              <a:miter/>
            </a:ln>
          </p:spPr>
        </p:sp>
        <p:sp>
          <p:nvSpPr>
            <p:cNvPr name="TextBox 28" id="28"/>
            <p:cNvSpPr txBox="true"/>
            <p:nvPr/>
          </p:nvSpPr>
          <p:spPr>
            <a:xfrm>
              <a:off x="0" y="-57150"/>
              <a:ext cx="1022358" cy="306467"/>
            </a:xfrm>
            <a:prstGeom prst="rect">
              <a:avLst/>
            </a:prstGeom>
          </p:spPr>
          <p:txBody>
            <a:bodyPr anchor="ctr" rtlCol="false" tIns="50800" lIns="50800" bIns="50800" rIns="50800"/>
            <a:lstStyle/>
            <a:p>
              <a:pPr algn="ctr">
                <a:lnSpc>
                  <a:spcPts val="4200"/>
                </a:lnSpc>
              </a:pPr>
              <a:r>
                <a:rPr lang="en-US" sz="3000">
                  <a:solidFill>
                    <a:srgbClr val="2A2A2A"/>
                  </a:solidFill>
                  <a:latin typeface="Montserrat"/>
                  <a:ea typeface="Montserrat"/>
                  <a:cs typeface="Montserrat"/>
                  <a:sym typeface="Montserrat"/>
                </a:rPr>
                <a:t>Datasets Type</a:t>
              </a:r>
            </a:p>
          </p:txBody>
        </p:sp>
      </p:grpSp>
      <p:grpSp>
        <p:nvGrpSpPr>
          <p:cNvPr name="Group 29" id="29"/>
          <p:cNvGrpSpPr/>
          <p:nvPr/>
        </p:nvGrpSpPr>
        <p:grpSpPr>
          <a:xfrm rot="0">
            <a:off x="10585274" y="2522621"/>
            <a:ext cx="3881764" cy="1012995"/>
            <a:chOff x="0" y="0"/>
            <a:chExt cx="1022358" cy="266797"/>
          </a:xfrm>
        </p:grpSpPr>
        <p:sp>
          <p:nvSpPr>
            <p:cNvPr name="Freeform 30" id="30"/>
            <p:cNvSpPr/>
            <p:nvPr/>
          </p:nvSpPr>
          <p:spPr>
            <a:xfrm flipH="false" flipV="false" rot="0">
              <a:off x="0" y="0"/>
              <a:ext cx="1022358" cy="266797"/>
            </a:xfrm>
            <a:custGeom>
              <a:avLst/>
              <a:gdLst/>
              <a:ahLst/>
              <a:cxnLst/>
              <a:rect r="r" b="b" t="t" l="l"/>
              <a:pathLst>
                <a:path h="266797" w="1022358">
                  <a:moveTo>
                    <a:pt x="0" y="0"/>
                  </a:moveTo>
                  <a:lnTo>
                    <a:pt x="1022358" y="0"/>
                  </a:lnTo>
                  <a:lnTo>
                    <a:pt x="1022358" y="266797"/>
                  </a:lnTo>
                  <a:lnTo>
                    <a:pt x="0" y="266797"/>
                  </a:lnTo>
                  <a:close/>
                </a:path>
              </a:pathLst>
            </a:custGeom>
            <a:solidFill>
              <a:srgbClr val="FFDE59"/>
            </a:solidFill>
            <a:ln w="19050" cap="sq">
              <a:solidFill>
                <a:srgbClr val="2A2A2A"/>
              </a:solidFill>
              <a:prstDash val="solid"/>
              <a:miter/>
            </a:ln>
          </p:spPr>
        </p:sp>
        <p:sp>
          <p:nvSpPr>
            <p:cNvPr name="TextBox 31" id="31"/>
            <p:cNvSpPr txBox="true"/>
            <p:nvPr/>
          </p:nvSpPr>
          <p:spPr>
            <a:xfrm>
              <a:off x="0" y="-57150"/>
              <a:ext cx="1022358" cy="323947"/>
            </a:xfrm>
            <a:prstGeom prst="rect">
              <a:avLst/>
            </a:prstGeom>
          </p:spPr>
          <p:txBody>
            <a:bodyPr anchor="ctr" rtlCol="false" tIns="50800" lIns="50800" bIns="50800" rIns="50800"/>
            <a:lstStyle/>
            <a:p>
              <a:pPr algn="ctr">
                <a:lnSpc>
                  <a:spcPts val="4200"/>
                </a:lnSpc>
              </a:pPr>
              <a:r>
                <a:rPr lang="en-US" sz="3000">
                  <a:solidFill>
                    <a:srgbClr val="2A2A2A"/>
                  </a:solidFill>
                  <a:latin typeface="Montserrat"/>
                  <a:ea typeface="Montserrat"/>
                  <a:cs typeface="Montserrat"/>
                  <a:sym typeface="Montserrat"/>
                </a:rPr>
                <a:t>Key Variabels</a:t>
              </a:r>
            </a:p>
          </p:txBody>
        </p:sp>
      </p:grpSp>
      <p:sp>
        <p:nvSpPr>
          <p:cNvPr name="Freeform 32" id="32"/>
          <p:cNvSpPr/>
          <p:nvPr/>
        </p:nvSpPr>
        <p:spPr>
          <a:xfrm flipH="false" flipV="false" rot="0">
            <a:off x="153082" y="7715390"/>
            <a:ext cx="2368539" cy="2615856"/>
          </a:xfrm>
          <a:custGeom>
            <a:avLst/>
            <a:gdLst/>
            <a:ahLst/>
            <a:cxnLst/>
            <a:rect r="r" b="b" t="t" l="l"/>
            <a:pathLst>
              <a:path h="2615856" w="2368539">
                <a:moveTo>
                  <a:pt x="0" y="0"/>
                </a:moveTo>
                <a:lnTo>
                  <a:pt x="2368538" y="0"/>
                </a:lnTo>
                <a:lnTo>
                  <a:pt x="2368538" y="2615855"/>
                </a:lnTo>
                <a:lnTo>
                  <a:pt x="0" y="26158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3" id="33"/>
          <p:cNvSpPr/>
          <p:nvPr/>
        </p:nvSpPr>
        <p:spPr>
          <a:xfrm flipH="false" flipV="false" rot="0">
            <a:off x="7712684" y="6160883"/>
            <a:ext cx="1431316" cy="562025"/>
          </a:xfrm>
          <a:custGeom>
            <a:avLst/>
            <a:gdLst/>
            <a:ahLst/>
            <a:cxnLst/>
            <a:rect r="r" b="b" t="t" l="l"/>
            <a:pathLst>
              <a:path h="562025" w="1431316">
                <a:moveTo>
                  <a:pt x="0" y="0"/>
                </a:moveTo>
                <a:lnTo>
                  <a:pt x="1431316" y="0"/>
                </a:lnTo>
                <a:lnTo>
                  <a:pt x="1431316" y="562025"/>
                </a:lnTo>
                <a:lnTo>
                  <a:pt x="0" y="5620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4" id="34"/>
          <p:cNvSpPr txBox="true"/>
          <p:nvPr/>
        </p:nvSpPr>
        <p:spPr>
          <a:xfrm rot="0">
            <a:off x="3488892" y="547322"/>
            <a:ext cx="11310216" cy="1503045"/>
          </a:xfrm>
          <a:prstGeom prst="rect">
            <a:avLst/>
          </a:prstGeom>
        </p:spPr>
        <p:txBody>
          <a:bodyPr anchor="t" rtlCol="false" tIns="0" lIns="0" bIns="0" rIns="0">
            <a:spAutoFit/>
          </a:bodyPr>
          <a:lstStyle/>
          <a:p>
            <a:pPr algn="ctr">
              <a:lnSpc>
                <a:spcPts val="11760"/>
              </a:lnSpc>
            </a:pPr>
            <a:r>
              <a:rPr lang="en-US" b="true" sz="9800">
                <a:solidFill>
                  <a:srgbClr val="2A2A2A"/>
                </a:solidFill>
                <a:latin typeface="Bebas Neue Bold"/>
                <a:ea typeface="Bebas Neue Bold"/>
                <a:cs typeface="Bebas Neue Bold"/>
                <a:sym typeface="Bebas Neue Bold"/>
              </a:rPr>
              <a:t>DATASETS OVERVIEW</a:t>
            </a:r>
          </a:p>
        </p:txBody>
      </p:sp>
      <p:sp>
        <p:nvSpPr>
          <p:cNvPr name="TextBox 35" id="35"/>
          <p:cNvSpPr txBox="true"/>
          <p:nvPr/>
        </p:nvSpPr>
        <p:spPr>
          <a:xfrm rot="0">
            <a:off x="2067460" y="6122783"/>
            <a:ext cx="5159531" cy="372745"/>
          </a:xfrm>
          <a:prstGeom prst="rect">
            <a:avLst/>
          </a:prstGeom>
        </p:spPr>
        <p:txBody>
          <a:bodyPr anchor="t" rtlCol="false" tIns="0" lIns="0" bIns="0" rIns="0">
            <a:spAutoFit/>
          </a:bodyPr>
          <a:lstStyle/>
          <a:p>
            <a:pPr algn="ctr">
              <a:lnSpc>
                <a:spcPts val="3079"/>
              </a:lnSpc>
            </a:pPr>
            <a:r>
              <a:rPr lang="en-US" sz="2199">
                <a:solidFill>
                  <a:srgbClr val="2A2A2A"/>
                </a:solidFill>
                <a:latin typeface="Montserrat"/>
                <a:ea typeface="Montserrat"/>
                <a:cs typeface="Montserrat"/>
                <a:sym typeface="Montserrat"/>
              </a:rPr>
              <a:t>Simulated E-Commerce Datasets</a:t>
            </a:r>
          </a:p>
        </p:txBody>
      </p:sp>
      <p:sp>
        <p:nvSpPr>
          <p:cNvPr name="TextBox 36" id="36"/>
          <p:cNvSpPr txBox="true"/>
          <p:nvPr/>
        </p:nvSpPr>
        <p:spPr>
          <a:xfrm rot="0">
            <a:off x="9823917" y="3735641"/>
            <a:ext cx="5491371" cy="6230620"/>
          </a:xfrm>
          <a:prstGeom prst="rect">
            <a:avLst/>
          </a:prstGeom>
        </p:spPr>
        <p:txBody>
          <a:bodyPr anchor="t" rtlCol="false" tIns="0" lIns="0" bIns="0" rIns="0">
            <a:spAutoFit/>
          </a:bodyPr>
          <a:lstStyle/>
          <a:p>
            <a:pPr algn="just">
              <a:lnSpc>
                <a:spcPts val="3079"/>
              </a:lnSpc>
            </a:pPr>
            <a:r>
              <a:rPr lang="en-US" sz="2199">
                <a:solidFill>
                  <a:srgbClr val="2A2A2A"/>
                </a:solidFill>
                <a:latin typeface="Montserrat"/>
                <a:ea typeface="Montserrat"/>
                <a:cs typeface="Montserrat"/>
                <a:sym typeface="Montserrat"/>
              </a:rPr>
              <a:t>The datas</a:t>
            </a:r>
            <a:r>
              <a:rPr lang="en-US" sz="2199">
                <a:solidFill>
                  <a:srgbClr val="2A2A2A"/>
                </a:solidFill>
                <a:latin typeface="Montserrat"/>
                <a:ea typeface="Montserrat"/>
                <a:cs typeface="Montserrat"/>
                <a:sym typeface="Montserrat"/>
              </a:rPr>
              <a:t>et includes the following key variables:</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Order Date – Transaction date.</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Region – Sales region.</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Product Name – Purchased product.</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Category – Product category.</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Customer Type – Customer segment (New, Premium, Returning).</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Payment Method – Payment option used by the customer.</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Quantity – Number of units sold.</a:t>
            </a:r>
          </a:p>
          <a:p>
            <a:pPr algn="just" marL="474979" indent="-237490" lvl="1">
              <a:lnSpc>
                <a:spcPts val="3079"/>
              </a:lnSpc>
              <a:buFont typeface="Arial"/>
              <a:buChar char="•"/>
            </a:pPr>
            <a:r>
              <a:rPr lang="en-US" sz="2199">
                <a:solidFill>
                  <a:srgbClr val="2A2A2A"/>
                </a:solidFill>
                <a:latin typeface="Montserrat"/>
                <a:ea typeface="Montserrat"/>
                <a:cs typeface="Montserrat"/>
                <a:sym typeface="Montserrat"/>
              </a:rPr>
              <a:t>Revenue – Total revenue generated from each transaction.</a:t>
            </a:r>
          </a:p>
          <a:p>
            <a:pPr algn="just">
              <a:lnSpc>
                <a:spcPts val="307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026167"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1300148" y="-1236106"/>
            <a:ext cx="12757650" cy="11596486"/>
            <a:chOff x="0" y="0"/>
            <a:chExt cx="3360040" cy="3054218"/>
          </a:xfrm>
        </p:grpSpPr>
        <p:sp>
          <p:nvSpPr>
            <p:cNvPr name="Freeform 13" id="13"/>
            <p:cNvSpPr/>
            <p:nvPr/>
          </p:nvSpPr>
          <p:spPr>
            <a:xfrm flipH="false" flipV="false" rot="0">
              <a:off x="0" y="0"/>
              <a:ext cx="3360039" cy="3054218"/>
            </a:xfrm>
            <a:custGeom>
              <a:avLst/>
              <a:gdLst/>
              <a:ahLst/>
              <a:cxnLst/>
              <a:rect r="r" b="b" t="t" l="l"/>
              <a:pathLst>
                <a:path h="3054218" w="3360039">
                  <a:moveTo>
                    <a:pt x="0" y="0"/>
                  </a:moveTo>
                  <a:lnTo>
                    <a:pt x="3360039" y="0"/>
                  </a:lnTo>
                  <a:lnTo>
                    <a:pt x="3360039" y="3054218"/>
                  </a:lnTo>
                  <a:lnTo>
                    <a:pt x="0" y="3054218"/>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3360040" cy="309231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5718457" y="703955"/>
            <a:ext cx="2009749" cy="741881"/>
            <a:chOff x="0" y="0"/>
            <a:chExt cx="2679666" cy="989175"/>
          </a:xfrm>
        </p:grpSpPr>
        <p:grpSp>
          <p:nvGrpSpPr>
            <p:cNvPr name="Group 16" id="16"/>
            <p:cNvGrpSpPr/>
            <p:nvPr/>
          </p:nvGrpSpPr>
          <p:grpSpPr>
            <a:xfrm rot="0">
              <a:off x="0" y="0"/>
              <a:ext cx="2679666" cy="989175"/>
              <a:chOff x="0" y="0"/>
              <a:chExt cx="529317" cy="195393"/>
            </a:xfrm>
          </p:grpSpPr>
          <p:sp>
            <p:nvSpPr>
              <p:cNvPr name="Freeform 17" id="17"/>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FFDE59"/>
              </a:solidFill>
              <a:ln w="19050" cap="rnd">
                <a:solidFill>
                  <a:srgbClr val="2A2A2A"/>
                </a:solidFill>
                <a:prstDash val="solid"/>
                <a:round/>
              </a:ln>
            </p:spPr>
          </p:sp>
          <p:sp>
            <p:nvSpPr>
              <p:cNvPr name="TextBox 18" id="18"/>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19" id="19"/>
            <p:cNvSpPr/>
            <p:nvPr/>
          </p:nvSpPr>
          <p:spPr>
            <a:xfrm>
              <a:off x="719436" y="494587"/>
              <a:ext cx="1171216" cy="0"/>
            </a:xfrm>
            <a:prstGeom prst="line">
              <a:avLst/>
            </a:prstGeom>
            <a:ln cap="flat" w="76200">
              <a:solidFill>
                <a:srgbClr val="2A2A2A"/>
              </a:solidFill>
              <a:prstDash val="solid"/>
              <a:headEnd type="none" len="sm" w="sm"/>
              <a:tailEnd type="arrow" len="sm" w="med"/>
            </a:ln>
          </p:spPr>
        </p:sp>
      </p:grpSp>
      <p:sp>
        <p:nvSpPr>
          <p:cNvPr name="Freeform 20" id="20"/>
          <p:cNvSpPr/>
          <p:nvPr/>
        </p:nvSpPr>
        <p:spPr>
          <a:xfrm flipH="false" flipV="false" rot="0">
            <a:off x="13911368" y="5498502"/>
            <a:ext cx="5623929" cy="4808459"/>
          </a:xfrm>
          <a:custGeom>
            <a:avLst/>
            <a:gdLst/>
            <a:ahLst/>
            <a:cxnLst/>
            <a:rect r="r" b="b" t="t" l="l"/>
            <a:pathLst>
              <a:path h="4808459" w="5623929">
                <a:moveTo>
                  <a:pt x="0" y="0"/>
                </a:moveTo>
                <a:lnTo>
                  <a:pt x="5623928" y="0"/>
                </a:lnTo>
                <a:lnTo>
                  <a:pt x="5623928" y="4808459"/>
                </a:lnTo>
                <a:lnTo>
                  <a:pt x="0" y="4808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2294248" y="329855"/>
            <a:ext cx="8928468" cy="1028684"/>
          </a:xfrm>
          <a:prstGeom prst="rect">
            <a:avLst/>
          </a:prstGeom>
        </p:spPr>
        <p:txBody>
          <a:bodyPr anchor="t" rtlCol="false" tIns="0" lIns="0" bIns="0" rIns="0">
            <a:spAutoFit/>
          </a:bodyPr>
          <a:lstStyle/>
          <a:p>
            <a:pPr algn="ctr">
              <a:lnSpc>
                <a:spcPts val="8400"/>
              </a:lnSpc>
            </a:pPr>
            <a:r>
              <a:rPr lang="en-US" b="true" sz="6000">
                <a:solidFill>
                  <a:srgbClr val="2A2A2A"/>
                </a:solidFill>
                <a:latin typeface="Montserrat Bold"/>
                <a:ea typeface="Montserrat Bold"/>
                <a:cs typeface="Montserrat Bold"/>
                <a:sym typeface="Montserrat Bold"/>
              </a:rPr>
              <a:t>EXPLORATORY DATA</a:t>
            </a:r>
          </a:p>
        </p:txBody>
      </p:sp>
      <p:sp>
        <p:nvSpPr>
          <p:cNvPr name="TextBox 22" id="22"/>
          <p:cNvSpPr txBox="true"/>
          <p:nvPr/>
        </p:nvSpPr>
        <p:spPr>
          <a:xfrm rot="0">
            <a:off x="1509559" y="1453789"/>
            <a:ext cx="11840790" cy="815340"/>
          </a:xfrm>
          <a:prstGeom prst="rect">
            <a:avLst/>
          </a:prstGeom>
        </p:spPr>
        <p:txBody>
          <a:bodyPr anchor="t" rtlCol="false" tIns="0" lIns="0" bIns="0" rIns="0">
            <a:spAutoFit/>
          </a:bodyPr>
          <a:lstStyle/>
          <a:p>
            <a:pPr algn="just">
              <a:lnSpc>
                <a:spcPts val="3359"/>
              </a:lnSpc>
            </a:pPr>
            <a:r>
              <a:rPr lang="en-US" sz="2399">
                <a:solidFill>
                  <a:srgbClr val="2A2A2A"/>
                </a:solidFill>
                <a:latin typeface="Montserrat"/>
                <a:ea typeface="Montserrat"/>
                <a:cs typeface="Montserrat"/>
                <a:sym typeface="Montserrat"/>
              </a:rPr>
              <a:t>Bef</a:t>
            </a:r>
            <a:r>
              <a:rPr lang="en-US" sz="2399">
                <a:solidFill>
                  <a:srgbClr val="2A2A2A"/>
                </a:solidFill>
                <a:latin typeface="Montserrat"/>
                <a:ea typeface="Montserrat"/>
                <a:cs typeface="Montserrat"/>
                <a:sym typeface="Montserrat"/>
              </a:rPr>
              <a:t>ore deep-diving into detailed insights, an initial data exploration was conducted to capture overall sales performance. </a:t>
            </a:r>
          </a:p>
        </p:txBody>
      </p:sp>
      <p:grpSp>
        <p:nvGrpSpPr>
          <p:cNvPr name="Group 23" id="23"/>
          <p:cNvGrpSpPr/>
          <p:nvPr/>
        </p:nvGrpSpPr>
        <p:grpSpPr>
          <a:xfrm rot="0">
            <a:off x="1550354" y="3471232"/>
            <a:ext cx="3781724" cy="1050296"/>
            <a:chOff x="0" y="0"/>
            <a:chExt cx="996010" cy="276621"/>
          </a:xfrm>
        </p:grpSpPr>
        <p:sp>
          <p:nvSpPr>
            <p:cNvPr name="Freeform 24" id="24"/>
            <p:cNvSpPr/>
            <p:nvPr/>
          </p:nvSpPr>
          <p:spPr>
            <a:xfrm flipH="false" flipV="false" rot="0">
              <a:off x="0" y="0"/>
              <a:ext cx="996010" cy="276621"/>
            </a:xfrm>
            <a:custGeom>
              <a:avLst/>
              <a:gdLst/>
              <a:ahLst/>
              <a:cxnLst/>
              <a:rect r="r" b="b" t="t" l="l"/>
              <a:pathLst>
                <a:path h="276621" w="996010">
                  <a:moveTo>
                    <a:pt x="49133" y="0"/>
                  </a:moveTo>
                  <a:lnTo>
                    <a:pt x="946877" y="0"/>
                  </a:lnTo>
                  <a:cubicBezTo>
                    <a:pt x="959908" y="0"/>
                    <a:pt x="972405" y="5176"/>
                    <a:pt x="981619" y="14391"/>
                  </a:cubicBezTo>
                  <a:cubicBezTo>
                    <a:pt x="990833" y="23605"/>
                    <a:pt x="996010" y="36102"/>
                    <a:pt x="996010" y="49133"/>
                  </a:cubicBezTo>
                  <a:lnTo>
                    <a:pt x="996010" y="227488"/>
                  </a:lnTo>
                  <a:cubicBezTo>
                    <a:pt x="996010" y="254624"/>
                    <a:pt x="974012" y="276621"/>
                    <a:pt x="946877" y="276621"/>
                  </a:cubicBezTo>
                  <a:lnTo>
                    <a:pt x="49133" y="276621"/>
                  </a:lnTo>
                  <a:cubicBezTo>
                    <a:pt x="36102" y="276621"/>
                    <a:pt x="23605" y="271445"/>
                    <a:pt x="14391" y="262231"/>
                  </a:cubicBezTo>
                  <a:cubicBezTo>
                    <a:pt x="5176" y="253016"/>
                    <a:pt x="0" y="240519"/>
                    <a:pt x="0" y="227488"/>
                  </a:cubicBezTo>
                  <a:lnTo>
                    <a:pt x="0" y="49133"/>
                  </a:lnTo>
                  <a:cubicBezTo>
                    <a:pt x="0" y="21997"/>
                    <a:pt x="21997" y="0"/>
                    <a:pt x="49133" y="0"/>
                  </a:cubicBezTo>
                  <a:close/>
                </a:path>
              </a:pathLst>
            </a:custGeom>
            <a:solidFill>
              <a:srgbClr val="FFFFFF"/>
            </a:solidFill>
            <a:ln w="38100" cap="rnd">
              <a:solidFill>
                <a:srgbClr val="2A2A2A"/>
              </a:solidFill>
              <a:prstDash val="solid"/>
              <a:round/>
            </a:ln>
          </p:spPr>
        </p:sp>
        <p:sp>
          <p:nvSpPr>
            <p:cNvPr name="TextBox 25" id="25"/>
            <p:cNvSpPr txBox="true"/>
            <p:nvPr/>
          </p:nvSpPr>
          <p:spPr>
            <a:xfrm>
              <a:off x="0" y="-38100"/>
              <a:ext cx="996010" cy="314721"/>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9219146" y="8120606"/>
            <a:ext cx="4007138" cy="967168"/>
            <a:chOff x="0" y="0"/>
            <a:chExt cx="1055378" cy="254727"/>
          </a:xfrm>
        </p:grpSpPr>
        <p:sp>
          <p:nvSpPr>
            <p:cNvPr name="Freeform 27" id="27"/>
            <p:cNvSpPr/>
            <p:nvPr/>
          </p:nvSpPr>
          <p:spPr>
            <a:xfrm flipH="false" flipV="false" rot="0">
              <a:off x="0" y="0"/>
              <a:ext cx="1055378" cy="254727"/>
            </a:xfrm>
            <a:custGeom>
              <a:avLst/>
              <a:gdLst/>
              <a:ahLst/>
              <a:cxnLst/>
              <a:rect r="r" b="b" t="t" l="l"/>
              <a:pathLst>
                <a:path h="254727" w="1055378">
                  <a:moveTo>
                    <a:pt x="46369" y="0"/>
                  </a:moveTo>
                  <a:lnTo>
                    <a:pt x="1009009" y="0"/>
                  </a:lnTo>
                  <a:cubicBezTo>
                    <a:pt x="1034618" y="0"/>
                    <a:pt x="1055378" y="20760"/>
                    <a:pt x="1055378" y="46369"/>
                  </a:cubicBezTo>
                  <a:lnTo>
                    <a:pt x="1055378" y="208359"/>
                  </a:lnTo>
                  <a:cubicBezTo>
                    <a:pt x="1055378" y="220656"/>
                    <a:pt x="1050493" y="232450"/>
                    <a:pt x="1041797" y="241146"/>
                  </a:cubicBezTo>
                  <a:cubicBezTo>
                    <a:pt x="1033101" y="249842"/>
                    <a:pt x="1021307" y="254727"/>
                    <a:pt x="1009009" y="254727"/>
                  </a:cubicBezTo>
                  <a:lnTo>
                    <a:pt x="46369" y="254727"/>
                  </a:lnTo>
                  <a:cubicBezTo>
                    <a:pt x="34071" y="254727"/>
                    <a:pt x="22277" y="249842"/>
                    <a:pt x="13581" y="241146"/>
                  </a:cubicBezTo>
                  <a:cubicBezTo>
                    <a:pt x="4885" y="232450"/>
                    <a:pt x="0" y="220656"/>
                    <a:pt x="0" y="208359"/>
                  </a:cubicBezTo>
                  <a:lnTo>
                    <a:pt x="0" y="46369"/>
                  </a:lnTo>
                  <a:cubicBezTo>
                    <a:pt x="0" y="34071"/>
                    <a:pt x="4885" y="22277"/>
                    <a:pt x="13581" y="13581"/>
                  </a:cubicBezTo>
                  <a:cubicBezTo>
                    <a:pt x="22277" y="4885"/>
                    <a:pt x="34071" y="0"/>
                    <a:pt x="46369" y="0"/>
                  </a:cubicBezTo>
                  <a:close/>
                </a:path>
              </a:pathLst>
            </a:custGeom>
            <a:solidFill>
              <a:srgbClr val="FFFFFF"/>
            </a:solidFill>
            <a:ln w="38100" cap="rnd">
              <a:solidFill>
                <a:srgbClr val="2A2A2A"/>
              </a:solidFill>
              <a:prstDash val="solid"/>
              <a:round/>
            </a:ln>
          </p:spPr>
        </p:sp>
        <p:sp>
          <p:nvSpPr>
            <p:cNvPr name="TextBox 28" id="28"/>
            <p:cNvSpPr txBox="true"/>
            <p:nvPr/>
          </p:nvSpPr>
          <p:spPr>
            <a:xfrm>
              <a:off x="0" y="-38100"/>
              <a:ext cx="1055378" cy="292827"/>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1558643" y="8079042"/>
            <a:ext cx="3781724" cy="1008732"/>
            <a:chOff x="0" y="0"/>
            <a:chExt cx="996010" cy="265674"/>
          </a:xfrm>
        </p:grpSpPr>
        <p:sp>
          <p:nvSpPr>
            <p:cNvPr name="Freeform 30" id="30"/>
            <p:cNvSpPr/>
            <p:nvPr/>
          </p:nvSpPr>
          <p:spPr>
            <a:xfrm flipH="false" flipV="false" rot="0">
              <a:off x="0" y="0"/>
              <a:ext cx="996010" cy="265674"/>
            </a:xfrm>
            <a:custGeom>
              <a:avLst/>
              <a:gdLst/>
              <a:ahLst/>
              <a:cxnLst/>
              <a:rect r="r" b="b" t="t" l="l"/>
              <a:pathLst>
                <a:path h="265674" w="996010">
                  <a:moveTo>
                    <a:pt x="49133" y="0"/>
                  </a:moveTo>
                  <a:lnTo>
                    <a:pt x="946877" y="0"/>
                  </a:lnTo>
                  <a:cubicBezTo>
                    <a:pt x="959908" y="0"/>
                    <a:pt x="972405" y="5176"/>
                    <a:pt x="981619" y="14391"/>
                  </a:cubicBezTo>
                  <a:cubicBezTo>
                    <a:pt x="990833" y="23605"/>
                    <a:pt x="996010" y="36102"/>
                    <a:pt x="996010" y="49133"/>
                  </a:cubicBezTo>
                  <a:lnTo>
                    <a:pt x="996010" y="216542"/>
                  </a:lnTo>
                  <a:cubicBezTo>
                    <a:pt x="996010" y="243677"/>
                    <a:pt x="974012" y="265674"/>
                    <a:pt x="946877" y="265674"/>
                  </a:cubicBezTo>
                  <a:lnTo>
                    <a:pt x="49133" y="265674"/>
                  </a:lnTo>
                  <a:cubicBezTo>
                    <a:pt x="21997" y="265674"/>
                    <a:pt x="0" y="243677"/>
                    <a:pt x="0" y="216542"/>
                  </a:cubicBezTo>
                  <a:lnTo>
                    <a:pt x="0" y="49133"/>
                  </a:lnTo>
                  <a:cubicBezTo>
                    <a:pt x="0" y="21997"/>
                    <a:pt x="21997" y="0"/>
                    <a:pt x="49133" y="0"/>
                  </a:cubicBezTo>
                  <a:close/>
                </a:path>
              </a:pathLst>
            </a:custGeom>
            <a:solidFill>
              <a:srgbClr val="FFFFFF"/>
            </a:solidFill>
            <a:ln w="38100" cap="rnd">
              <a:solidFill>
                <a:srgbClr val="2A2A2A"/>
              </a:solidFill>
              <a:prstDash val="solid"/>
              <a:round/>
            </a:ln>
          </p:spPr>
        </p:sp>
        <p:sp>
          <p:nvSpPr>
            <p:cNvPr name="TextBox 31" id="31"/>
            <p:cNvSpPr txBox="true"/>
            <p:nvPr/>
          </p:nvSpPr>
          <p:spPr>
            <a:xfrm>
              <a:off x="0" y="-38100"/>
              <a:ext cx="996010" cy="303774"/>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2410772" y="5761750"/>
            <a:ext cx="10038365" cy="1086653"/>
            <a:chOff x="0" y="0"/>
            <a:chExt cx="2643849" cy="286197"/>
          </a:xfrm>
        </p:grpSpPr>
        <p:sp>
          <p:nvSpPr>
            <p:cNvPr name="Freeform 33" id="33"/>
            <p:cNvSpPr/>
            <p:nvPr/>
          </p:nvSpPr>
          <p:spPr>
            <a:xfrm flipH="false" flipV="false" rot="0">
              <a:off x="0" y="0"/>
              <a:ext cx="2643849" cy="286197"/>
            </a:xfrm>
            <a:custGeom>
              <a:avLst/>
              <a:gdLst/>
              <a:ahLst/>
              <a:cxnLst/>
              <a:rect r="r" b="b" t="t" l="l"/>
              <a:pathLst>
                <a:path h="286197" w="2643849">
                  <a:moveTo>
                    <a:pt x="18510" y="0"/>
                  </a:moveTo>
                  <a:lnTo>
                    <a:pt x="2625340" y="0"/>
                  </a:lnTo>
                  <a:cubicBezTo>
                    <a:pt x="2630249" y="0"/>
                    <a:pt x="2634957" y="1950"/>
                    <a:pt x="2638428" y="5421"/>
                  </a:cubicBezTo>
                  <a:cubicBezTo>
                    <a:pt x="2641899" y="8893"/>
                    <a:pt x="2643849" y="13601"/>
                    <a:pt x="2643849" y="18510"/>
                  </a:cubicBezTo>
                  <a:lnTo>
                    <a:pt x="2643849" y="267687"/>
                  </a:lnTo>
                  <a:cubicBezTo>
                    <a:pt x="2643849" y="272596"/>
                    <a:pt x="2641899" y="277304"/>
                    <a:pt x="2638428" y="280775"/>
                  </a:cubicBezTo>
                  <a:cubicBezTo>
                    <a:pt x="2634957" y="284247"/>
                    <a:pt x="2630249" y="286197"/>
                    <a:pt x="2625340" y="286197"/>
                  </a:cubicBezTo>
                  <a:lnTo>
                    <a:pt x="18510" y="286197"/>
                  </a:lnTo>
                  <a:cubicBezTo>
                    <a:pt x="13601" y="286197"/>
                    <a:pt x="8893" y="284247"/>
                    <a:pt x="5421" y="280775"/>
                  </a:cubicBezTo>
                  <a:cubicBezTo>
                    <a:pt x="1950" y="277304"/>
                    <a:pt x="0" y="272596"/>
                    <a:pt x="0" y="267687"/>
                  </a:cubicBezTo>
                  <a:lnTo>
                    <a:pt x="0" y="18510"/>
                  </a:lnTo>
                  <a:cubicBezTo>
                    <a:pt x="0" y="13601"/>
                    <a:pt x="1950" y="8893"/>
                    <a:pt x="5421" y="5421"/>
                  </a:cubicBezTo>
                  <a:cubicBezTo>
                    <a:pt x="8893" y="1950"/>
                    <a:pt x="13601" y="0"/>
                    <a:pt x="18510" y="0"/>
                  </a:cubicBezTo>
                  <a:close/>
                </a:path>
              </a:pathLst>
            </a:custGeom>
            <a:solidFill>
              <a:srgbClr val="FFFFFF"/>
            </a:solidFill>
            <a:ln w="38100" cap="rnd">
              <a:solidFill>
                <a:srgbClr val="2A2A2A"/>
              </a:solidFill>
              <a:prstDash val="solid"/>
              <a:round/>
            </a:ln>
          </p:spPr>
        </p:sp>
        <p:sp>
          <p:nvSpPr>
            <p:cNvPr name="TextBox 34" id="34"/>
            <p:cNvSpPr txBox="true"/>
            <p:nvPr/>
          </p:nvSpPr>
          <p:spPr>
            <a:xfrm>
              <a:off x="0" y="-38100"/>
              <a:ext cx="2643849" cy="324297"/>
            </a:xfrm>
            <a:prstGeom prst="rect">
              <a:avLst/>
            </a:prstGeom>
          </p:spPr>
          <p:txBody>
            <a:bodyPr anchor="ctr" rtlCol="false" tIns="50800" lIns="50800" bIns="50800" rIns="50800"/>
            <a:lstStyle/>
            <a:p>
              <a:pPr algn="ctr">
                <a:lnSpc>
                  <a:spcPts val="2659"/>
                </a:lnSpc>
                <a:spcBef>
                  <a:spcPct val="0"/>
                </a:spcBef>
              </a:pPr>
            </a:p>
          </p:txBody>
        </p:sp>
      </p:grpSp>
      <p:grpSp>
        <p:nvGrpSpPr>
          <p:cNvPr name="Group 35" id="35"/>
          <p:cNvGrpSpPr/>
          <p:nvPr/>
        </p:nvGrpSpPr>
        <p:grpSpPr>
          <a:xfrm rot="0">
            <a:off x="8534691" y="3510865"/>
            <a:ext cx="5205003" cy="1010663"/>
            <a:chOff x="0" y="0"/>
            <a:chExt cx="1370865" cy="266183"/>
          </a:xfrm>
        </p:grpSpPr>
        <p:sp>
          <p:nvSpPr>
            <p:cNvPr name="Freeform 36" id="36"/>
            <p:cNvSpPr/>
            <p:nvPr/>
          </p:nvSpPr>
          <p:spPr>
            <a:xfrm flipH="false" flipV="false" rot="0">
              <a:off x="0" y="0"/>
              <a:ext cx="1370865" cy="266183"/>
            </a:xfrm>
            <a:custGeom>
              <a:avLst/>
              <a:gdLst/>
              <a:ahLst/>
              <a:cxnLst/>
              <a:rect r="r" b="b" t="t" l="l"/>
              <a:pathLst>
                <a:path h="266183" w="1370865">
                  <a:moveTo>
                    <a:pt x="37185" y="0"/>
                  </a:moveTo>
                  <a:lnTo>
                    <a:pt x="1333680" y="0"/>
                  </a:lnTo>
                  <a:cubicBezTo>
                    <a:pt x="1354217" y="0"/>
                    <a:pt x="1370865" y="16648"/>
                    <a:pt x="1370865" y="37185"/>
                  </a:cubicBezTo>
                  <a:lnTo>
                    <a:pt x="1370865" y="228998"/>
                  </a:lnTo>
                  <a:cubicBezTo>
                    <a:pt x="1370865" y="249534"/>
                    <a:pt x="1354217" y="266183"/>
                    <a:pt x="1333680" y="266183"/>
                  </a:cubicBezTo>
                  <a:lnTo>
                    <a:pt x="37185" y="266183"/>
                  </a:lnTo>
                  <a:cubicBezTo>
                    <a:pt x="16648" y="266183"/>
                    <a:pt x="0" y="249534"/>
                    <a:pt x="0" y="228998"/>
                  </a:cubicBezTo>
                  <a:lnTo>
                    <a:pt x="0" y="37185"/>
                  </a:lnTo>
                  <a:cubicBezTo>
                    <a:pt x="0" y="16648"/>
                    <a:pt x="16648" y="0"/>
                    <a:pt x="37185" y="0"/>
                  </a:cubicBezTo>
                  <a:close/>
                </a:path>
              </a:pathLst>
            </a:custGeom>
            <a:solidFill>
              <a:srgbClr val="FFFFFF"/>
            </a:solidFill>
            <a:ln w="38100" cap="rnd">
              <a:solidFill>
                <a:srgbClr val="2A2A2A"/>
              </a:solidFill>
              <a:prstDash val="solid"/>
              <a:round/>
            </a:ln>
          </p:spPr>
        </p:sp>
        <p:sp>
          <p:nvSpPr>
            <p:cNvPr name="TextBox 37" id="37"/>
            <p:cNvSpPr txBox="true"/>
            <p:nvPr/>
          </p:nvSpPr>
          <p:spPr>
            <a:xfrm>
              <a:off x="0" y="-38100"/>
              <a:ext cx="1370865" cy="304283"/>
            </a:xfrm>
            <a:prstGeom prst="rect">
              <a:avLst/>
            </a:prstGeom>
          </p:spPr>
          <p:txBody>
            <a:bodyPr anchor="ctr" rtlCol="false" tIns="50800" lIns="50800" bIns="50800" rIns="50800"/>
            <a:lstStyle/>
            <a:p>
              <a:pPr algn="ctr">
                <a:lnSpc>
                  <a:spcPts val="2659"/>
                </a:lnSpc>
                <a:spcBef>
                  <a:spcPct val="0"/>
                </a:spcBef>
              </a:pPr>
            </a:p>
          </p:txBody>
        </p:sp>
      </p:grpSp>
      <p:sp>
        <p:nvSpPr>
          <p:cNvPr name="TextBox 38" id="38"/>
          <p:cNvSpPr txBox="true"/>
          <p:nvPr/>
        </p:nvSpPr>
        <p:spPr>
          <a:xfrm rot="0">
            <a:off x="1907984" y="3700810"/>
            <a:ext cx="3066465" cy="604707"/>
          </a:xfrm>
          <a:prstGeom prst="rect">
            <a:avLst/>
          </a:prstGeom>
        </p:spPr>
        <p:txBody>
          <a:bodyPr anchor="t" rtlCol="false" tIns="0" lIns="0" bIns="0" rIns="0">
            <a:spAutoFit/>
          </a:bodyPr>
          <a:lstStyle/>
          <a:p>
            <a:pPr algn="ctr">
              <a:lnSpc>
                <a:spcPts val="4994"/>
              </a:lnSpc>
            </a:pPr>
            <a:r>
              <a:rPr lang="en-US" sz="3567">
                <a:solidFill>
                  <a:srgbClr val="2A2A2A"/>
                </a:solidFill>
                <a:latin typeface="Montserrat"/>
                <a:ea typeface="Montserrat"/>
                <a:cs typeface="Montserrat"/>
                <a:sym typeface="Montserrat"/>
              </a:rPr>
              <a:t> $28.220.731</a:t>
            </a:r>
          </a:p>
        </p:txBody>
      </p:sp>
      <p:sp>
        <p:nvSpPr>
          <p:cNvPr name="TextBox 39" id="39"/>
          <p:cNvSpPr txBox="true"/>
          <p:nvPr/>
        </p:nvSpPr>
        <p:spPr>
          <a:xfrm rot="0">
            <a:off x="8978765" y="3769354"/>
            <a:ext cx="4316856" cy="481330"/>
          </a:xfrm>
          <a:prstGeom prst="rect">
            <a:avLst/>
          </a:prstGeom>
        </p:spPr>
        <p:txBody>
          <a:bodyPr anchor="t" rtlCol="false" tIns="0" lIns="0" bIns="0" rIns="0">
            <a:spAutoFit/>
          </a:bodyPr>
          <a:lstStyle/>
          <a:p>
            <a:pPr algn="ctr">
              <a:lnSpc>
                <a:spcPts val="3920"/>
              </a:lnSpc>
            </a:pPr>
            <a:r>
              <a:rPr lang="en-US" sz="2800">
                <a:solidFill>
                  <a:srgbClr val="2A2A2A"/>
                </a:solidFill>
                <a:latin typeface="Open Sans"/>
                <a:ea typeface="Open Sans"/>
                <a:cs typeface="Open Sans"/>
                <a:sym typeface="Open Sans"/>
              </a:rPr>
              <a:t>Laptop, Tablet, Watch</a:t>
            </a:r>
          </a:p>
        </p:txBody>
      </p:sp>
      <p:grpSp>
        <p:nvGrpSpPr>
          <p:cNvPr name="Group 40" id="40"/>
          <p:cNvGrpSpPr/>
          <p:nvPr/>
        </p:nvGrpSpPr>
        <p:grpSpPr>
          <a:xfrm rot="0">
            <a:off x="4571361" y="5076487"/>
            <a:ext cx="5717187" cy="909675"/>
            <a:chOff x="0" y="0"/>
            <a:chExt cx="1505761" cy="239585"/>
          </a:xfrm>
        </p:grpSpPr>
        <p:sp>
          <p:nvSpPr>
            <p:cNvPr name="Freeform 41" id="41"/>
            <p:cNvSpPr/>
            <p:nvPr/>
          </p:nvSpPr>
          <p:spPr>
            <a:xfrm flipH="false" flipV="false" rot="0">
              <a:off x="0" y="0"/>
              <a:ext cx="1505761" cy="239585"/>
            </a:xfrm>
            <a:custGeom>
              <a:avLst/>
              <a:gdLst/>
              <a:ahLst/>
              <a:cxnLst/>
              <a:rect r="r" b="b" t="t" l="l"/>
              <a:pathLst>
                <a:path h="239585" w="1505761">
                  <a:moveTo>
                    <a:pt x="32500" y="0"/>
                  </a:moveTo>
                  <a:lnTo>
                    <a:pt x="1473262" y="0"/>
                  </a:lnTo>
                  <a:cubicBezTo>
                    <a:pt x="1481881" y="0"/>
                    <a:pt x="1490147" y="3424"/>
                    <a:pt x="1496242" y="9519"/>
                  </a:cubicBezTo>
                  <a:cubicBezTo>
                    <a:pt x="1502337" y="15614"/>
                    <a:pt x="1505761" y="23880"/>
                    <a:pt x="1505761" y="32500"/>
                  </a:cubicBezTo>
                  <a:lnTo>
                    <a:pt x="1505761" y="207086"/>
                  </a:lnTo>
                  <a:cubicBezTo>
                    <a:pt x="1505761" y="215705"/>
                    <a:pt x="1502337" y="223971"/>
                    <a:pt x="1496242" y="230066"/>
                  </a:cubicBezTo>
                  <a:cubicBezTo>
                    <a:pt x="1490147" y="236161"/>
                    <a:pt x="1481881" y="239585"/>
                    <a:pt x="1473262" y="239585"/>
                  </a:cubicBezTo>
                  <a:lnTo>
                    <a:pt x="32500" y="239585"/>
                  </a:lnTo>
                  <a:cubicBezTo>
                    <a:pt x="23880" y="239585"/>
                    <a:pt x="15614" y="236161"/>
                    <a:pt x="9519" y="230066"/>
                  </a:cubicBezTo>
                  <a:cubicBezTo>
                    <a:pt x="3424" y="223971"/>
                    <a:pt x="0" y="215705"/>
                    <a:pt x="0" y="207086"/>
                  </a:cubicBezTo>
                  <a:lnTo>
                    <a:pt x="0" y="32500"/>
                  </a:lnTo>
                  <a:cubicBezTo>
                    <a:pt x="0" y="23880"/>
                    <a:pt x="3424" y="15614"/>
                    <a:pt x="9519" y="9519"/>
                  </a:cubicBezTo>
                  <a:cubicBezTo>
                    <a:pt x="15614" y="3424"/>
                    <a:pt x="23880" y="0"/>
                    <a:pt x="32500" y="0"/>
                  </a:cubicBezTo>
                  <a:close/>
                </a:path>
              </a:pathLst>
            </a:custGeom>
            <a:solidFill>
              <a:srgbClr val="FFDE59"/>
            </a:solidFill>
            <a:ln w="19050" cap="rnd">
              <a:solidFill>
                <a:srgbClr val="2A2A2A"/>
              </a:solidFill>
              <a:prstDash val="solid"/>
              <a:round/>
            </a:ln>
          </p:spPr>
        </p:sp>
        <p:sp>
          <p:nvSpPr>
            <p:cNvPr name="TextBox 42" id="42"/>
            <p:cNvSpPr txBox="true"/>
            <p:nvPr/>
          </p:nvSpPr>
          <p:spPr>
            <a:xfrm>
              <a:off x="0" y="-47625"/>
              <a:ext cx="1505761" cy="287210"/>
            </a:xfrm>
            <a:prstGeom prst="rect">
              <a:avLst/>
            </a:prstGeom>
          </p:spPr>
          <p:txBody>
            <a:bodyPr anchor="ctr" rtlCol="false" tIns="50800" lIns="50800" bIns="50800" rIns="50800"/>
            <a:lstStyle/>
            <a:p>
              <a:pPr algn="ctr">
                <a:lnSpc>
                  <a:spcPts val="3639"/>
                </a:lnSpc>
              </a:pPr>
              <a:r>
                <a:rPr lang="en-US" b="true" sz="2599">
                  <a:solidFill>
                    <a:srgbClr val="000000"/>
                  </a:solidFill>
                  <a:latin typeface="Montserrat Bold"/>
                  <a:ea typeface="Montserrat Bold"/>
                  <a:cs typeface="Montserrat Bold"/>
                  <a:sym typeface="Montserrat Bold"/>
                </a:rPr>
                <a:t>Top Products by Sales Volume</a:t>
              </a:r>
            </a:p>
          </p:txBody>
        </p:sp>
      </p:grpSp>
      <p:sp>
        <p:nvSpPr>
          <p:cNvPr name="TextBox 43" id="43"/>
          <p:cNvSpPr txBox="true"/>
          <p:nvPr/>
        </p:nvSpPr>
        <p:spPr>
          <a:xfrm rot="0">
            <a:off x="2646026" y="6071886"/>
            <a:ext cx="9511058" cy="980364"/>
          </a:xfrm>
          <a:prstGeom prst="rect">
            <a:avLst/>
          </a:prstGeom>
        </p:spPr>
        <p:txBody>
          <a:bodyPr anchor="t" rtlCol="false" tIns="0" lIns="0" bIns="0" rIns="0">
            <a:spAutoFit/>
          </a:bodyPr>
          <a:lstStyle/>
          <a:p>
            <a:pPr algn="ctr">
              <a:lnSpc>
                <a:spcPts val="3976"/>
              </a:lnSpc>
            </a:pPr>
            <a:r>
              <a:rPr lang="en-US" sz="2840">
                <a:solidFill>
                  <a:srgbClr val="2A2A2A"/>
                </a:solidFill>
                <a:latin typeface="Open Sans"/>
                <a:ea typeface="Open Sans"/>
                <a:cs typeface="Open Sans"/>
                <a:sym typeface="Open Sans"/>
              </a:rPr>
              <a:t>Watch (468 pcs), </a:t>
            </a:r>
            <a:r>
              <a:rPr lang="en-US" sz="2840">
                <a:solidFill>
                  <a:srgbClr val="2A2A2A"/>
                </a:solidFill>
                <a:latin typeface="Open Sans"/>
                <a:ea typeface="Open Sans"/>
                <a:cs typeface="Open Sans"/>
                <a:sym typeface="Open Sans"/>
              </a:rPr>
              <a:t>Water Bottle (466 pcs), Mobile (430 pcs)</a:t>
            </a:r>
          </a:p>
          <a:p>
            <a:pPr algn="ctr">
              <a:lnSpc>
                <a:spcPts val="3976"/>
              </a:lnSpc>
            </a:pPr>
          </a:p>
        </p:txBody>
      </p:sp>
      <p:grpSp>
        <p:nvGrpSpPr>
          <p:cNvPr name="Group 44" id="44"/>
          <p:cNvGrpSpPr/>
          <p:nvPr/>
        </p:nvGrpSpPr>
        <p:grpSpPr>
          <a:xfrm rot="0">
            <a:off x="1748615" y="7354000"/>
            <a:ext cx="3385202" cy="866578"/>
            <a:chOff x="0" y="0"/>
            <a:chExt cx="891576" cy="228235"/>
          </a:xfrm>
        </p:grpSpPr>
        <p:sp>
          <p:nvSpPr>
            <p:cNvPr name="Freeform 45" id="45"/>
            <p:cNvSpPr/>
            <p:nvPr/>
          </p:nvSpPr>
          <p:spPr>
            <a:xfrm flipH="false" flipV="false" rot="0">
              <a:off x="0" y="0"/>
              <a:ext cx="891576" cy="228235"/>
            </a:xfrm>
            <a:custGeom>
              <a:avLst/>
              <a:gdLst/>
              <a:ahLst/>
              <a:cxnLst/>
              <a:rect r="r" b="b" t="t" l="l"/>
              <a:pathLst>
                <a:path h="228235" w="891576">
                  <a:moveTo>
                    <a:pt x="54888" y="0"/>
                  </a:moveTo>
                  <a:lnTo>
                    <a:pt x="836688" y="0"/>
                  </a:lnTo>
                  <a:cubicBezTo>
                    <a:pt x="867002" y="0"/>
                    <a:pt x="891576" y="24574"/>
                    <a:pt x="891576" y="54888"/>
                  </a:cubicBezTo>
                  <a:lnTo>
                    <a:pt x="891576" y="173347"/>
                  </a:lnTo>
                  <a:cubicBezTo>
                    <a:pt x="891576" y="187904"/>
                    <a:pt x="885793" y="201865"/>
                    <a:pt x="875500" y="212158"/>
                  </a:cubicBezTo>
                  <a:cubicBezTo>
                    <a:pt x="865206" y="222452"/>
                    <a:pt x="851245" y="228235"/>
                    <a:pt x="836688" y="228235"/>
                  </a:cubicBezTo>
                  <a:lnTo>
                    <a:pt x="54888" y="228235"/>
                  </a:lnTo>
                  <a:cubicBezTo>
                    <a:pt x="40331" y="228235"/>
                    <a:pt x="26370" y="222452"/>
                    <a:pt x="16076" y="212158"/>
                  </a:cubicBezTo>
                  <a:cubicBezTo>
                    <a:pt x="5783" y="201865"/>
                    <a:pt x="0" y="187904"/>
                    <a:pt x="0" y="173347"/>
                  </a:cubicBezTo>
                  <a:lnTo>
                    <a:pt x="0" y="54888"/>
                  </a:lnTo>
                  <a:cubicBezTo>
                    <a:pt x="0" y="40331"/>
                    <a:pt x="5783" y="26370"/>
                    <a:pt x="16076" y="16076"/>
                  </a:cubicBezTo>
                  <a:cubicBezTo>
                    <a:pt x="26370" y="5783"/>
                    <a:pt x="40331" y="0"/>
                    <a:pt x="54888" y="0"/>
                  </a:cubicBezTo>
                  <a:close/>
                </a:path>
              </a:pathLst>
            </a:custGeom>
            <a:solidFill>
              <a:srgbClr val="FFDE59"/>
            </a:solidFill>
            <a:ln w="19050" cap="rnd">
              <a:solidFill>
                <a:srgbClr val="2A2A2A"/>
              </a:solidFill>
              <a:prstDash val="solid"/>
              <a:round/>
            </a:ln>
          </p:spPr>
        </p:sp>
        <p:sp>
          <p:nvSpPr>
            <p:cNvPr name="TextBox 46" id="46"/>
            <p:cNvSpPr txBox="true"/>
            <p:nvPr/>
          </p:nvSpPr>
          <p:spPr>
            <a:xfrm>
              <a:off x="0" y="-47625"/>
              <a:ext cx="891576" cy="275860"/>
            </a:xfrm>
            <a:prstGeom prst="rect">
              <a:avLst/>
            </a:prstGeom>
          </p:spPr>
          <p:txBody>
            <a:bodyPr anchor="ctr" rtlCol="false" tIns="50800" lIns="50800" bIns="50800" rIns="50800"/>
            <a:lstStyle/>
            <a:p>
              <a:pPr algn="ctr">
                <a:lnSpc>
                  <a:spcPts val="3639"/>
                </a:lnSpc>
              </a:pPr>
              <a:r>
                <a:rPr lang="en-US" b="true" sz="2599">
                  <a:solidFill>
                    <a:srgbClr val="000000"/>
                  </a:solidFill>
                  <a:latin typeface="Montserrat Bold"/>
                  <a:ea typeface="Montserrat Bold"/>
                  <a:cs typeface="Montserrat Bold"/>
                  <a:sym typeface="Montserrat Bold"/>
                </a:rPr>
                <a:t>Analysis Period</a:t>
              </a:r>
            </a:p>
          </p:txBody>
        </p:sp>
      </p:grpSp>
      <p:sp>
        <p:nvSpPr>
          <p:cNvPr name="TextBox 47" id="47"/>
          <p:cNvSpPr txBox="true"/>
          <p:nvPr/>
        </p:nvSpPr>
        <p:spPr>
          <a:xfrm rot="0">
            <a:off x="2127957" y="8334950"/>
            <a:ext cx="2626519" cy="481330"/>
          </a:xfrm>
          <a:prstGeom prst="rect">
            <a:avLst/>
          </a:prstGeom>
        </p:spPr>
        <p:txBody>
          <a:bodyPr anchor="t" rtlCol="false" tIns="0" lIns="0" bIns="0" rIns="0">
            <a:spAutoFit/>
          </a:bodyPr>
          <a:lstStyle/>
          <a:p>
            <a:pPr algn="ctr">
              <a:lnSpc>
                <a:spcPts val="3920"/>
              </a:lnSpc>
            </a:pPr>
            <a:r>
              <a:rPr lang="en-US" sz="2800">
                <a:solidFill>
                  <a:srgbClr val="2A2A2A"/>
                </a:solidFill>
                <a:latin typeface="Open Sans"/>
                <a:ea typeface="Open Sans"/>
                <a:cs typeface="Open Sans"/>
                <a:sym typeface="Open Sans"/>
              </a:rPr>
              <a:t>De</a:t>
            </a:r>
            <a:r>
              <a:rPr lang="en-US" sz="2800">
                <a:solidFill>
                  <a:srgbClr val="2A2A2A"/>
                </a:solidFill>
                <a:latin typeface="Open Sans"/>
                <a:ea typeface="Open Sans"/>
                <a:cs typeface="Open Sans"/>
                <a:sym typeface="Open Sans"/>
              </a:rPr>
              <a:t>sember 2023</a:t>
            </a:r>
          </a:p>
        </p:txBody>
      </p:sp>
      <p:grpSp>
        <p:nvGrpSpPr>
          <p:cNvPr name="Group 48" id="48"/>
          <p:cNvGrpSpPr/>
          <p:nvPr/>
        </p:nvGrpSpPr>
        <p:grpSpPr>
          <a:xfrm rot="0">
            <a:off x="8692217" y="7354000"/>
            <a:ext cx="5103157" cy="866578"/>
            <a:chOff x="0" y="0"/>
            <a:chExt cx="1344041" cy="228235"/>
          </a:xfrm>
        </p:grpSpPr>
        <p:sp>
          <p:nvSpPr>
            <p:cNvPr name="Freeform 49" id="49"/>
            <p:cNvSpPr/>
            <p:nvPr/>
          </p:nvSpPr>
          <p:spPr>
            <a:xfrm flipH="false" flipV="false" rot="0">
              <a:off x="0" y="0"/>
              <a:ext cx="1344041" cy="228235"/>
            </a:xfrm>
            <a:custGeom>
              <a:avLst/>
              <a:gdLst/>
              <a:ahLst/>
              <a:cxnLst/>
              <a:rect r="r" b="b" t="t" l="l"/>
              <a:pathLst>
                <a:path h="228235" w="1344041">
                  <a:moveTo>
                    <a:pt x="36410" y="0"/>
                  </a:moveTo>
                  <a:lnTo>
                    <a:pt x="1307631" y="0"/>
                  </a:lnTo>
                  <a:cubicBezTo>
                    <a:pt x="1327740" y="0"/>
                    <a:pt x="1344041" y="16301"/>
                    <a:pt x="1344041" y="36410"/>
                  </a:cubicBezTo>
                  <a:lnTo>
                    <a:pt x="1344041" y="191825"/>
                  </a:lnTo>
                  <a:cubicBezTo>
                    <a:pt x="1344041" y="211933"/>
                    <a:pt x="1327740" y="228235"/>
                    <a:pt x="1307631" y="228235"/>
                  </a:cubicBezTo>
                  <a:lnTo>
                    <a:pt x="36410" y="228235"/>
                  </a:lnTo>
                  <a:cubicBezTo>
                    <a:pt x="16301" y="228235"/>
                    <a:pt x="0" y="211933"/>
                    <a:pt x="0" y="191825"/>
                  </a:cubicBezTo>
                  <a:lnTo>
                    <a:pt x="0" y="36410"/>
                  </a:lnTo>
                  <a:cubicBezTo>
                    <a:pt x="0" y="16301"/>
                    <a:pt x="16301" y="0"/>
                    <a:pt x="36410" y="0"/>
                  </a:cubicBezTo>
                  <a:close/>
                </a:path>
              </a:pathLst>
            </a:custGeom>
            <a:solidFill>
              <a:srgbClr val="FFDE59"/>
            </a:solidFill>
            <a:ln w="19050" cap="rnd">
              <a:solidFill>
                <a:srgbClr val="2A2A2A"/>
              </a:solidFill>
              <a:prstDash val="solid"/>
              <a:round/>
            </a:ln>
          </p:spPr>
        </p:sp>
        <p:sp>
          <p:nvSpPr>
            <p:cNvPr name="TextBox 50" id="50"/>
            <p:cNvSpPr txBox="true"/>
            <p:nvPr/>
          </p:nvSpPr>
          <p:spPr>
            <a:xfrm>
              <a:off x="0" y="-47625"/>
              <a:ext cx="1344041" cy="275860"/>
            </a:xfrm>
            <a:prstGeom prst="rect">
              <a:avLst/>
            </a:prstGeom>
          </p:spPr>
          <p:txBody>
            <a:bodyPr anchor="ctr" rtlCol="false" tIns="50800" lIns="50800" bIns="50800" rIns="50800"/>
            <a:lstStyle/>
            <a:p>
              <a:pPr algn="ctr">
                <a:lnSpc>
                  <a:spcPts val="3639"/>
                </a:lnSpc>
              </a:pPr>
              <a:r>
                <a:rPr lang="en-US" b="true" sz="2599">
                  <a:solidFill>
                    <a:srgbClr val="000000"/>
                  </a:solidFill>
                  <a:latin typeface="Montserrat Bold"/>
                  <a:ea typeface="Montserrat Bold"/>
                  <a:cs typeface="Montserrat Bold"/>
                  <a:sym typeface="Montserrat Bold"/>
                </a:rPr>
                <a:t>Largest Customer Segment</a:t>
              </a:r>
            </a:p>
          </p:txBody>
        </p:sp>
      </p:grpSp>
      <p:sp>
        <p:nvSpPr>
          <p:cNvPr name="TextBox 51" id="51"/>
          <p:cNvSpPr txBox="true"/>
          <p:nvPr/>
        </p:nvSpPr>
        <p:spPr>
          <a:xfrm rot="0">
            <a:off x="10765123" y="8314168"/>
            <a:ext cx="744141" cy="481330"/>
          </a:xfrm>
          <a:prstGeom prst="rect">
            <a:avLst/>
          </a:prstGeom>
        </p:spPr>
        <p:txBody>
          <a:bodyPr anchor="t" rtlCol="false" tIns="0" lIns="0" bIns="0" rIns="0">
            <a:spAutoFit/>
          </a:bodyPr>
          <a:lstStyle/>
          <a:p>
            <a:pPr algn="ctr">
              <a:lnSpc>
                <a:spcPts val="3920"/>
              </a:lnSpc>
            </a:pPr>
            <a:r>
              <a:rPr lang="en-US" sz="2800">
                <a:solidFill>
                  <a:srgbClr val="2A2A2A"/>
                </a:solidFill>
                <a:latin typeface="Open Sans"/>
                <a:ea typeface="Open Sans"/>
                <a:cs typeface="Open Sans"/>
                <a:sym typeface="Open Sans"/>
              </a:rPr>
              <a:t>New</a:t>
            </a:r>
          </a:p>
        </p:txBody>
      </p:sp>
      <p:grpSp>
        <p:nvGrpSpPr>
          <p:cNvPr name="Group 52" id="52"/>
          <p:cNvGrpSpPr/>
          <p:nvPr/>
        </p:nvGrpSpPr>
        <p:grpSpPr>
          <a:xfrm rot="0">
            <a:off x="1748615" y="2783479"/>
            <a:ext cx="3385202" cy="909675"/>
            <a:chOff x="0" y="0"/>
            <a:chExt cx="891576" cy="239585"/>
          </a:xfrm>
        </p:grpSpPr>
        <p:sp>
          <p:nvSpPr>
            <p:cNvPr name="Freeform 53" id="53"/>
            <p:cNvSpPr/>
            <p:nvPr/>
          </p:nvSpPr>
          <p:spPr>
            <a:xfrm flipH="false" flipV="false" rot="0">
              <a:off x="0" y="0"/>
              <a:ext cx="891576" cy="239585"/>
            </a:xfrm>
            <a:custGeom>
              <a:avLst/>
              <a:gdLst/>
              <a:ahLst/>
              <a:cxnLst/>
              <a:rect r="r" b="b" t="t" l="l"/>
              <a:pathLst>
                <a:path h="239585" w="891576">
                  <a:moveTo>
                    <a:pt x="54888" y="0"/>
                  </a:moveTo>
                  <a:lnTo>
                    <a:pt x="836688" y="0"/>
                  </a:lnTo>
                  <a:cubicBezTo>
                    <a:pt x="867002" y="0"/>
                    <a:pt x="891576" y="24574"/>
                    <a:pt x="891576" y="54888"/>
                  </a:cubicBezTo>
                  <a:lnTo>
                    <a:pt x="891576" y="184697"/>
                  </a:lnTo>
                  <a:cubicBezTo>
                    <a:pt x="891576" y="199255"/>
                    <a:pt x="885793" y="213215"/>
                    <a:pt x="875500" y="223509"/>
                  </a:cubicBezTo>
                  <a:cubicBezTo>
                    <a:pt x="865206" y="233802"/>
                    <a:pt x="851245" y="239585"/>
                    <a:pt x="836688" y="239585"/>
                  </a:cubicBezTo>
                  <a:lnTo>
                    <a:pt x="54888" y="239585"/>
                  </a:lnTo>
                  <a:cubicBezTo>
                    <a:pt x="40331" y="239585"/>
                    <a:pt x="26370" y="233802"/>
                    <a:pt x="16076" y="223509"/>
                  </a:cubicBezTo>
                  <a:cubicBezTo>
                    <a:pt x="5783" y="213215"/>
                    <a:pt x="0" y="199255"/>
                    <a:pt x="0" y="184697"/>
                  </a:cubicBezTo>
                  <a:lnTo>
                    <a:pt x="0" y="54888"/>
                  </a:lnTo>
                  <a:cubicBezTo>
                    <a:pt x="0" y="40331"/>
                    <a:pt x="5783" y="26370"/>
                    <a:pt x="16076" y="16076"/>
                  </a:cubicBezTo>
                  <a:cubicBezTo>
                    <a:pt x="26370" y="5783"/>
                    <a:pt x="40331" y="0"/>
                    <a:pt x="54888" y="0"/>
                  </a:cubicBezTo>
                  <a:close/>
                </a:path>
              </a:pathLst>
            </a:custGeom>
            <a:solidFill>
              <a:srgbClr val="FFDE59"/>
            </a:solidFill>
            <a:ln w="19050" cap="rnd">
              <a:solidFill>
                <a:srgbClr val="2A2A2A"/>
              </a:solidFill>
              <a:prstDash val="solid"/>
              <a:round/>
            </a:ln>
          </p:spPr>
        </p:sp>
        <p:sp>
          <p:nvSpPr>
            <p:cNvPr name="TextBox 54" id="54"/>
            <p:cNvSpPr txBox="true"/>
            <p:nvPr/>
          </p:nvSpPr>
          <p:spPr>
            <a:xfrm>
              <a:off x="0" y="-47625"/>
              <a:ext cx="891576" cy="287210"/>
            </a:xfrm>
            <a:prstGeom prst="rect">
              <a:avLst/>
            </a:prstGeom>
          </p:spPr>
          <p:txBody>
            <a:bodyPr anchor="ctr" rtlCol="false" tIns="50800" lIns="50800" bIns="50800" rIns="50800"/>
            <a:lstStyle/>
            <a:p>
              <a:pPr algn="ctr">
                <a:lnSpc>
                  <a:spcPts val="3639"/>
                </a:lnSpc>
              </a:pPr>
              <a:r>
                <a:rPr lang="en-US" b="true" sz="2599">
                  <a:solidFill>
                    <a:srgbClr val="000000"/>
                  </a:solidFill>
                  <a:latin typeface="Montserrat Bold"/>
                  <a:ea typeface="Montserrat Bold"/>
                  <a:cs typeface="Montserrat Bold"/>
                  <a:sym typeface="Montserrat Bold"/>
                </a:rPr>
                <a:t>Total Revenue</a:t>
              </a:r>
            </a:p>
          </p:txBody>
        </p:sp>
      </p:grpSp>
      <p:grpSp>
        <p:nvGrpSpPr>
          <p:cNvPr name="Group 55" id="55"/>
          <p:cNvGrpSpPr/>
          <p:nvPr/>
        </p:nvGrpSpPr>
        <p:grpSpPr>
          <a:xfrm rot="0">
            <a:off x="8692217" y="2783479"/>
            <a:ext cx="4889952" cy="909675"/>
            <a:chOff x="0" y="0"/>
            <a:chExt cx="1287888" cy="239585"/>
          </a:xfrm>
        </p:grpSpPr>
        <p:sp>
          <p:nvSpPr>
            <p:cNvPr name="Freeform 56" id="56"/>
            <p:cNvSpPr/>
            <p:nvPr/>
          </p:nvSpPr>
          <p:spPr>
            <a:xfrm flipH="false" flipV="false" rot="0">
              <a:off x="0" y="0"/>
              <a:ext cx="1287889" cy="239585"/>
            </a:xfrm>
            <a:custGeom>
              <a:avLst/>
              <a:gdLst/>
              <a:ahLst/>
              <a:cxnLst/>
              <a:rect r="r" b="b" t="t" l="l"/>
              <a:pathLst>
                <a:path h="239585" w="1287889">
                  <a:moveTo>
                    <a:pt x="37998" y="0"/>
                  </a:moveTo>
                  <a:lnTo>
                    <a:pt x="1249891" y="0"/>
                  </a:lnTo>
                  <a:cubicBezTo>
                    <a:pt x="1259969" y="0"/>
                    <a:pt x="1269633" y="4003"/>
                    <a:pt x="1276759" y="11129"/>
                  </a:cubicBezTo>
                  <a:cubicBezTo>
                    <a:pt x="1283885" y="18255"/>
                    <a:pt x="1287889" y="27920"/>
                    <a:pt x="1287889" y="37998"/>
                  </a:cubicBezTo>
                  <a:lnTo>
                    <a:pt x="1287889" y="201588"/>
                  </a:lnTo>
                  <a:cubicBezTo>
                    <a:pt x="1287889" y="211665"/>
                    <a:pt x="1283885" y="221330"/>
                    <a:pt x="1276759" y="228456"/>
                  </a:cubicBezTo>
                  <a:cubicBezTo>
                    <a:pt x="1269633" y="235582"/>
                    <a:pt x="1259969" y="239585"/>
                    <a:pt x="1249891" y="239585"/>
                  </a:cubicBezTo>
                  <a:lnTo>
                    <a:pt x="37998" y="239585"/>
                  </a:lnTo>
                  <a:cubicBezTo>
                    <a:pt x="27920" y="239585"/>
                    <a:pt x="18255" y="235582"/>
                    <a:pt x="11129" y="228456"/>
                  </a:cubicBezTo>
                  <a:cubicBezTo>
                    <a:pt x="4003" y="221330"/>
                    <a:pt x="0" y="211665"/>
                    <a:pt x="0" y="201588"/>
                  </a:cubicBezTo>
                  <a:lnTo>
                    <a:pt x="0" y="37998"/>
                  </a:lnTo>
                  <a:cubicBezTo>
                    <a:pt x="0" y="27920"/>
                    <a:pt x="4003" y="18255"/>
                    <a:pt x="11129" y="11129"/>
                  </a:cubicBezTo>
                  <a:cubicBezTo>
                    <a:pt x="18255" y="4003"/>
                    <a:pt x="27920" y="0"/>
                    <a:pt x="37998" y="0"/>
                  </a:cubicBezTo>
                  <a:close/>
                </a:path>
              </a:pathLst>
            </a:custGeom>
            <a:solidFill>
              <a:srgbClr val="FFDE59"/>
            </a:solidFill>
            <a:ln w="19050" cap="rnd">
              <a:solidFill>
                <a:srgbClr val="2A2A2A"/>
              </a:solidFill>
              <a:prstDash val="solid"/>
              <a:round/>
            </a:ln>
          </p:spPr>
        </p:sp>
        <p:sp>
          <p:nvSpPr>
            <p:cNvPr name="TextBox 57" id="57"/>
            <p:cNvSpPr txBox="true"/>
            <p:nvPr/>
          </p:nvSpPr>
          <p:spPr>
            <a:xfrm>
              <a:off x="0" y="-47625"/>
              <a:ext cx="1287888" cy="287210"/>
            </a:xfrm>
            <a:prstGeom prst="rect">
              <a:avLst/>
            </a:prstGeom>
          </p:spPr>
          <p:txBody>
            <a:bodyPr anchor="ctr" rtlCol="false" tIns="50800" lIns="50800" bIns="50800" rIns="50800"/>
            <a:lstStyle/>
            <a:p>
              <a:pPr algn="ctr">
                <a:lnSpc>
                  <a:spcPts val="3639"/>
                </a:lnSpc>
              </a:pPr>
              <a:r>
                <a:rPr lang="en-US" b="true" sz="2599">
                  <a:solidFill>
                    <a:srgbClr val="000000"/>
                  </a:solidFill>
                  <a:latin typeface="Montserrat Bold"/>
                  <a:ea typeface="Montserrat Bold"/>
                  <a:cs typeface="Montserrat Bold"/>
                  <a:sym typeface="Montserrat Bold"/>
                </a:rPr>
                <a:t>Top Revenue Contributors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83755" y="-73249"/>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4806947" y="-371285"/>
            <a:ext cx="13893571" cy="11442192"/>
            <a:chOff x="0" y="0"/>
            <a:chExt cx="3659212" cy="3013581"/>
          </a:xfrm>
        </p:grpSpPr>
        <p:sp>
          <p:nvSpPr>
            <p:cNvPr name="Freeform 13" id="13"/>
            <p:cNvSpPr/>
            <p:nvPr/>
          </p:nvSpPr>
          <p:spPr>
            <a:xfrm flipH="false" flipV="false" rot="0">
              <a:off x="0" y="0"/>
              <a:ext cx="3659212" cy="3013581"/>
            </a:xfrm>
            <a:custGeom>
              <a:avLst/>
              <a:gdLst/>
              <a:ahLst/>
              <a:cxnLst/>
              <a:rect r="r" b="b" t="t" l="l"/>
              <a:pathLst>
                <a:path h="3013581" w="3659212">
                  <a:moveTo>
                    <a:pt x="0" y="0"/>
                  </a:moveTo>
                  <a:lnTo>
                    <a:pt x="3659212" y="0"/>
                  </a:lnTo>
                  <a:lnTo>
                    <a:pt x="3659212" y="3013581"/>
                  </a:lnTo>
                  <a:lnTo>
                    <a:pt x="0" y="3013581"/>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3659212" cy="3051681"/>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43182" y="704463"/>
            <a:ext cx="2009749" cy="741881"/>
            <a:chOff x="0" y="0"/>
            <a:chExt cx="2679666" cy="989175"/>
          </a:xfrm>
        </p:grpSpPr>
        <p:grpSp>
          <p:nvGrpSpPr>
            <p:cNvPr name="Group 16" id="16"/>
            <p:cNvGrpSpPr/>
            <p:nvPr/>
          </p:nvGrpSpPr>
          <p:grpSpPr>
            <a:xfrm rot="0">
              <a:off x="0" y="0"/>
              <a:ext cx="2679666" cy="989175"/>
              <a:chOff x="0" y="0"/>
              <a:chExt cx="529317" cy="195393"/>
            </a:xfrm>
          </p:grpSpPr>
          <p:sp>
            <p:nvSpPr>
              <p:cNvPr name="Freeform 17" id="17"/>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FFDE59"/>
              </a:solidFill>
              <a:ln w="19050" cap="rnd">
                <a:solidFill>
                  <a:srgbClr val="2A2A2A"/>
                </a:solidFill>
                <a:prstDash val="solid"/>
                <a:round/>
              </a:ln>
            </p:spPr>
          </p:sp>
          <p:sp>
            <p:nvSpPr>
              <p:cNvPr name="TextBox 18" id="18"/>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19" id="19"/>
            <p:cNvSpPr/>
            <p:nvPr/>
          </p:nvSpPr>
          <p:spPr>
            <a:xfrm>
              <a:off x="719436" y="494587"/>
              <a:ext cx="1171216" cy="0"/>
            </a:xfrm>
            <a:prstGeom prst="line">
              <a:avLst/>
            </a:prstGeom>
            <a:ln cap="flat" w="76200">
              <a:solidFill>
                <a:srgbClr val="2A2A2A"/>
              </a:solidFill>
              <a:prstDash val="solid"/>
              <a:headEnd type="none" len="sm" w="sm"/>
              <a:tailEnd type="arrow" len="sm" w="med"/>
            </a:ln>
          </p:spPr>
        </p:sp>
      </p:grpSp>
      <p:sp>
        <p:nvSpPr>
          <p:cNvPr name="Freeform 20" id="20"/>
          <p:cNvSpPr/>
          <p:nvPr/>
        </p:nvSpPr>
        <p:spPr>
          <a:xfrm flipH="false" flipV="false" rot="0">
            <a:off x="5354274" y="1508701"/>
            <a:ext cx="773401" cy="680593"/>
          </a:xfrm>
          <a:custGeom>
            <a:avLst/>
            <a:gdLst/>
            <a:ahLst/>
            <a:cxnLst/>
            <a:rect r="r" b="b" t="t" l="l"/>
            <a:pathLst>
              <a:path h="680593" w="773401">
                <a:moveTo>
                  <a:pt x="0" y="0"/>
                </a:moveTo>
                <a:lnTo>
                  <a:pt x="773402" y="0"/>
                </a:lnTo>
                <a:lnTo>
                  <a:pt x="773402" y="680593"/>
                </a:lnTo>
                <a:lnTo>
                  <a:pt x="0" y="680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5365990" y="5451095"/>
            <a:ext cx="637240" cy="621309"/>
          </a:xfrm>
          <a:custGeom>
            <a:avLst/>
            <a:gdLst/>
            <a:ahLst/>
            <a:cxnLst/>
            <a:rect r="r" b="b" t="t" l="l"/>
            <a:pathLst>
              <a:path h="621309" w="637240">
                <a:moveTo>
                  <a:pt x="0" y="0"/>
                </a:moveTo>
                <a:lnTo>
                  <a:pt x="637241" y="0"/>
                </a:lnTo>
                <a:lnTo>
                  <a:pt x="637241" y="621310"/>
                </a:lnTo>
                <a:lnTo>
                  <a:pt x="0" y="6213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5365990" y="7482105"/>
            <a:ext cx="427427" cy="712379"/>
          </a:xfrm>
          <a:custGeom>
            <a:avLst/>
            <a:gdLst/>
            <a:ahLst/>
            <a:cxnLst/>
            <a:rect r="r" b="b" t="t" l="l"/>
            <a:pathLst>
              <a:path h="712379" w="427427">
                <a:moveTo>
                  <a:pt x="0" y="0"/>
                </a:moveTo>
                <a:lnTo>
                  <a:pt x="427427" y="0"/>
                </a:lnTo>
                <a:lnTo>
                  <a:pt x="427427" y="712378"/>
                </a:lnTo>
                <a:lnTo>
                  <a:pt x="0" y="7123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5391312" y="3575168"/>
            <a:ext cx="699327" cy="466227"/>
          </a:xfrm>
          <a:custGeom>
            <a:avLst/>
            <a:gdLst/>
            <a:ahLst/>
            <a:cxnLst/>
            <a:rect r="r" b="b" t="t" l="l"/>
            <a:pathLst>
              <a:path h="466227" w="699327">
                <a:moveTo>
                  <a:pt x="0" y="0"/>
                </a:moveTo>
                <a:lnTo>
                  <a:pt x="699327" y="0"/>
                </a:lnTo>
                <a:lnTo>
                  <a:pt x="699327" y="466227"/>
                </a:lnTo>
                <a:lnTo>
                  <a:pt x="0" y="466227"/>
                </a:lnTo>
                <a:lnTo>
                  <a:pt x="0" y="0"/>
                </a:lnTo>
                <a:close/>
              </a:path>
            </a:pathLst>
          </a:custGeom>
          <a:blipFill>
            <a:blip r:embed="rId10"/>
            <a:stretch>
              <a:fillRect l="-1680" t="0" r="-1680" b="0"/>
            </a:stretch>
          </a:blipFill>
        </p:spPr>
      </p:sp>
      <p:sp>
        <p:nvSpPr>
          <p:cNvPr name="Freeform 24" id="24"/>
          <p:cNvSpPr/>
          <p:nvPr/>
        </p:nvSpPr>
        <p:spPr>
          <a:xfrm flipH="false" flipV="false" rot="0">
            <a:off x="452290" y="5114505"/>
            <a:ext cx="3997889" cy="4208304"/>
          </a:xfrm>
          <a:custGeom>
            <a:avLst/>
            <a:gdLst/>
            <a:ahLst/>
            <a:cxnLst/>
            <a:rect r="r" b="b" t="t" l="l"/>
            <a:pathLst>
              <a:path h="4208304" w="3997889">
                <a:moveTo>
                  <a:pt x="0" y="0"/>
                </a:moveTo>
                <a:lnTo>
                  <a:pt x="3997889" y="0"/>
                </a:lnTo>
                <a:lnTo>
                  <a:pt x="3997889" y="4208304"/>
                </a:lnTo>
                <a:lnTo>
                  <a:pt x="0" y="4208304"/>
                </a:lnTo>
                <a:lnTo>
                  <a:pt x="0" y="0"/>
                </a:lnTo>
                <a:close/>
              </a:path>
            </a:pathLst>
          </a:custGeom>
          <a:blipFill>
            <a:blip r:embed="rId11"/>
            <a:stretch>
              <a:fillRect l="0" t="0" r="0" b="0"/>
            </a:stretch>
          </a:blipFill>
        </p:spPr>
      </p:sp>
      <p:sp>
        <p:nvSpPr>
          <p:cNvPr name="TextBox 25" id="25"/>
          <p:cNvSpPr txBox="true"/>
          <p:nvPr/>
        </p:nvSpPr>
        <p:spPr>
          <a:xfrm rot="0">
            <a:off x="5454656" y="363097"/>
            <a:ext cx="11779615" cy="1219200"/>
          </a:xfrm>
          <a:prstGeom prst="rect">
            <a:avLst/>
          </a:prstGeom>
        </p:spPr>
        <p:txBody>
          <a:bodyPr anchor="t" rtlCol="false" tIns="0" lIns="0" bIns="0" rIns="0">
            <a:spAutoFit/>
          </a:bodyPr>
          <a:lstStyle/>
          <a:p>
            <a:pPr algn="l">
              <a:lnSpc>
                <a:spcPts val="9600"/>
              </a:lnSpc>
            </a:pPr>
            <a:r>
              <a:rPr lang="en-US" sz="8000">
                <a:solidFill>
                  <a:srgbClr val="2A2A2A"/>
                </a:solidFill>
                <a:latin typeface="Monomaniac One"/>
                <a:ea typeface="Monomaniac One"/>
                <a:cs typeface="Monomaniac One"/>
                <a:sym typeface="Monomaniac One"/>
              </a:rPr>
              <a:t>WHAT THE DATA REVEALS?</a:t>
            </a:r>
          </a:p>
        </p:txBody>
      </p:sp>
      <p:sp>
        <p:nvSpPr>
          <p:cNvPr name="TextBox 26" id="26"/>
          <p:cNvSpPr txBox="true"/>
          <p:nvPr/>
        </p:nvSpPr>
        <p:spPr>
          <a:xfrm rot="0">
            <a:off x="5143662" y="1801372"/>
            <a:ext cx="12115638" cy="1189355"/>
          </a:xfrm>
          <a:prstGeom prst="rect">
            <a:avLst/>
          </a:prstGeom>
        </p:spPr>
        <p:txBody>
          <a:bodyPr anchor="t" rtlCol="false" tIns="0" lIns="0" bIns="0" rIns="0">
            <a:spAutoFit/>
          </a:bodyPr>
          <a:lstStyle/>
          <a:p>
            <a:pPr algn="l">
              <a:lnSpc>
                <a:spcPts val="3220"/>
              </a:lnSpc>
            </a:pPr>
            <a:r>
              <a:rPr lang="en-US" sz="2300" b="true">
                <a:solidFill>
                  <a:srgbClr val="2A2A2A"/>
                </a:solidFill>
                <a:latin typeface="Montserrat Bold"/>
                <a:ea typeface="Montserrat Bold"/>
                <a:cs typeface="Montserrat Bold"/>
                <a:sym typeface="Montserrat Bold"/>
              </a:rPr>
              <a:t>             Strong Overall Sales Performance</a:t>
            </a:r>
          </a:p>
          <a:p>
            <a:pPr algn="l">
              <a:lnSpc>
                <a:spcPts val="3220"/>
              </a:lnSpc>
            </a:pPr>
            <a:r>
              <a:rPr lang="en-US" sz="2300">
                <a:solidFill>
                  <a:srgbClr val="2A2A2A"/>
                </a:solidFill>
                <a:latin typeface="Montserrat"/>
                <a:ea typeface="Montserrat"/>
                <a:cs typeface="Montserrat"/>
                <a:sym typeface="Montserrat"/>
              </a:rPr>
              <a:t>Th</a:t>
            </a:r>
            <a:r>
              <a:rPr lang="en-US" sz="2300">
                <a:solidFill>
                  <a:srgbClr val="2A2A2A"/>
                </a:solidFill>
                <a:latin typeface="Montserrat"/>
                <a:ea typeface="Montserrat"/>
                <a:cs typeface="Montserrat"/>
                <a:sym typeface="Montserrat"/>
              </a:rPr>
              <a:t>e company generated $28.22 million in total revenue during the analysis period, indicating strong overall sales performance across multiple products and regions.</a:t>
            </a:r>
          </a:p>
        </p:txBody>
      </p:sp>
      <p:sp>
        <p:nvSpPr>
          <p:cNvPr name="TextBox 27" id="27"/>
          <p:cNvSpPr txBox="true"/>
          <p:nvPr/>
        </p:nvSpPr>
        <p:spPr>
          <a:xfrm rot="0">
            <a:off x="5094090" y="3554095"/>
            <a:ext cx="12041522" cy="1589405"/>
          </a:xfrm>
          <a:prstGeom prst="rect">
            <a:avLst/>
          </a:prstGeom>
        </p:spPr>
        <p:txBody>
          <a:bodyPr anchor="t" rtlCol="false" tIns="0" lIns="0" bIns="0" rIns="0">
            <a:spAutoFit/>
          </a:bodyPr>
          <a:lstStyle/>
          <a:p>
            <a:pPr algn="just">
              <a:lnSpc>
                <a:spcPts val="3220"/>
              </a:lnSpc>
            </a:pPr>
            <a:r>
              <a:rPr lang="en-US" sz="2300" b="true">
                <a:solidFill>
                  <a:srgbClr val="2A2A2A"/>
                </a:solidFill>
                <a:latin typeface="Montserrat Bold"/>
                <a:ea typeface="Montserrat Bold"/>
                <a:cs typeface="Montserrat Bold"/>
                <a:sym typeface="Montserrat Bold"/>
              </a:rPr>
              <a:t>             Revenue is Concentrated in a Few Products</a:t>
            </a:r>
          </a:p>
          <a:p>
            <a:pPr algn="just">
              <a:lnSpc>
                <a:spcPts val="3220"/>
              </a:lnSpc>
            </a:pPr>
            <a:r>
              <a:rPr lang="en-US" sz="2300">
                <a:solidFill>
                  <a:srgbClr val="2A2A2A"/>
                </a:solidFill>
                <a:latin typeface="Montserrat"/>
                <a:ea typeface="Montserrat"/>
                <a:cs typeface="Montserrat"/>
                <a:sym typeface="Montserrat"/>
              </a:rPr>
              <a:t>Reve</a:t>
            </a:r>
            <a:r>
              <a:rPr lang="en-US" sz="2300">
                <a:solidFill>
                  <a:srgbClr val="2A2A2A"/>
                </a:solidFill>
                <a:latin typeface="Montserrat"/>
                <a:ea typeface="Montserrat"/>
                <a:cs typeface="Montserrat"/>
                <a:sym typeface="Montserrat"/>
              </a:rPr>
              <a:t>nue is primarily driven by Laptop, Tablet, and Watch, indicating that a small group of products contributes significantly to the company's overall sales performance.</a:t>
            </a:r>
          </a:p>
        </p:txBody>
      </p:sp>
      <p:sp>
        <p:nvSpPr>
          <p:cNvPr name="TextBox 28" id="28"/>
          <p:cNvSpPr txBox="true"/>
          <p:nvPr/>
        </p:nvSpPr>
        <p:spPr>
          <a:xfrm rot="0">
            <a:off x="5094090" y="5607467"/>
            <a:ext cx="12115638" cy="1989455"/>
          </a:xfrm>
          <a:prstGeom prst="rect">
            <a:avLst/>
          </a:prstGeom>
        </p:spPr>
        <p:txBody>
          <a:bodyPr anchor="t" rtlCol="false" tIns="0" lIns="0" bIns="0" rIns="0">
            <a:spAutoFit/>
          </a:bodyPr>
          <a:lstStyle/>
          <a:p>
            <a:pPr algn="just">
              <a:lnSpc>
                <a:spcPts val="3220"/>
              </a:lnSpc>
            </a:pPr>
            <a:r>
              <a:rPr lang="en-US" sz="2300" b="true">
                <a:solidFill>
                  <a:srgbClr val="2A2A2A"/>
                </a:solidFill>
                <a:latin typeface="Montserrat Bold"/>
                <a:ea typeface="Montserrat Bold"/>
                <a:cs typeface="Montserrat Bold"/>
                <a:sym typeface="Montserrat Bold"/>
              </a:rPr>
              <a:t>              Sales Volume Does Not Always Reflect Revenue Contribution</a:t>
            </a:r>
          </a:p>
          <a:p>
            <a:pPr algn="just">
              <a:lnSpc>
                <a:spcPts val="3220"/>
              </a:lnSpc>
            </a:pPr>
            <a:r>
              <a:rPr lang="en-US" sz="2300">
                <a:solidFill>
                  <a:srgbClr val="2A2A2A"/>
                </a:solidFill>
                <a:latin typeface="Montserrat"/>
                <a:ea typeface="Montserrat"/>
                <a:cs typeface="Montserrat"/>
                <a:sym typeface="Montserrat"/>
              </a:rPr>
              <a:t>New customers represent the l</a:t>
            </a:r>
            <a:r>
              <a:rPr lang="en-US" sz="2300">
                <a:solidFill>
                  <a:srgbClr val="2A2A2A"/>
                </a:solidFill>
                <a:latin typeface="Montserrat"/>
                <a:ea typeface="Montserrat"/>
                <a:cs typeface="Montserrat"/>
                <a:sym typeface="Montserrat"/>
              </a:rPr>
              <a:t>argest customer segment, indicating successful customer acquisition while highlighting opportunities to improve customer retention.</a:t>
            </a:r>
          </a:p>
          <a:p>
            <a:pPr algn="just">
              <a:lnSpc>
                <a:spcPts val="3220"/>
              </a:lnSpc>
            </a:pPr>
          </a:p>
        </p:txBody>
      </p:sp>
      <p:sp>
        <p:nvSpPr>
          <p:cNvPr name="TextBox 29" id="29"/>
          <p:cNvSpPr txBox="true"/>
          <p:nvPr/>
        </p:nvSpPr>
        <p:spPr>
          <a:xfrm rot="0">
            <a:off x="5156177" y="7706367"/>
            <a:ext cx="12090608" cy="1989455"/>
          </a:xfrm>
          <a:prstGeom prst="rect">
            <a:avLst/>
          </a:prstGeom>
        </p:spPr>
        <p:txBody>
          <a:bodyPr anchor="t" rtlCol="false" tIns="0" lIns="0" bIns="0" rIns="0">
            <a:spAutoFit/>
          </a:bodyPr>
          <a:lstStyle/>
          <a:p>
            <a:pPr algn="just">
              <a:lnSpc>
                <a:spcPts val="3220"/>
              </a:lnSpc>
            </a:pPr>
            <a:r>
              <a:rPr lang="en-US" sz="2300" b="true">
                <a:solidFill>
                  <a:srgbClr val="2A2A2A"/>
                </a:solidFill>
                <a:latin typeface="Montserrat Bold"/>
                <a:ea typeface="Montserrat Bold"/>
                <a:cs typeface="Montserrat Bold"/>
                <a:sym typeface="Montserrat Bold"/>
              </a:rPr>
              <a:t>           Historical Data Supports Trend Analysis</a:t>
            </a:r>
          </a:p>
          <a:p>
            <a:pPr algn="just">
              <a:lnSpc>
                <a:spcPts val="3220"/>
              </a:lnSpc>
            </a:pPr>
            <a:r>
              <a:rPr lang="en-US" sz="2300">
                <a:solidFill>
                  <a:srgbClr val="2A2A2A"/>
                </a:solidFill>
                <a:latin typeface="Montserrat"/>
                <a:ea typeface="Montserrat"/>
                <a:cs typeface="Montserrat"/>
                <a:sym typeface="Montserrat"/>
              </a:rPr>
              <a:t>Decemb</a:t>
            </a:r>
            <a:r>
              <a:rPr lang="en-US" sz="2300">
                <a:solidFill>
                  <a:srgbClr val="2A2A2A"/>
                </a:solidFill>
                <a:latin typeface="Montserrat"/>
                <a:ea typeface="Montserrat"/>
                <a:cs typeface="Montserrat"/>
                <a:sym typeface="Montserrat"/>
              </a:rPr>
              <a:t>er 2023 achieved the highest monthly revenue of $856,962, making it the strongest sales period in the dataset. This peak may have been influenced by seasonal demand, promotional campaigns, or increased customer purchasing activity.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310569" y="-36493"/>
            <a:ext cx="13035611" cy="11596486"/>
            <a:chOff x="0" y="0"/>
            <a:chExt cx="3433247" cy="3054218"/>
          </a:xfrm>
        </p:grpSpPr>
        <p:sp>
          <p:nvSpPr>
            <p:cNvPr name="Freeform 13" id="13"/>
            <p:cNvSpPr/>
            <p:nvPr/>
          </p:nvSpPr>
          <p:spPr>
            <a:xfrm flipH="false" flipV="false" rot="0">
              <a:off x="0" y="0"/>
              <a:ext cx="3433247" cy="3054218"/>
            </a:xfrm>
            <a:custGeom>
              <a:avLst/>
              <a:gdLst/>
              <a:ahLst/>
              <a:cxnLst/>
              <a:rect r="r" b="b" t="t" l="l"/>
              <a:pathLst>
                <a:path h="3054218" w="3433247">
                  <a:moveTo>
                    <a:pt x="0" y="0"/>
                  </a:moveTo>
                  <a:lnTo>
                    <a:pt x="3433247" y="0"/>
                  </a:lnTo>
                  <a:lnTo>
                    <a:pt x="3433247" y="3054218"/>
                  </a:lnTo>
                  <a:lnTo>
                    <a:pt x="0" y="3054218"/>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3433247" cy="3092318"/>
            </a:xfrm>
            <a:prstGeom prst="rect">
              <a:avLst/>
            </a:prstGeom>
          </p:spPr>
          <p:txBody>
            <a:bodyPr anchor="ctr" rtlCol="false" tIns="50800" lIns="50800" bIns="50800" rIns="50800"/>
            <a:lstStyle/>
            <a:p>
              <a:pPr algn="ctr">
                <a:lnSpc>
                  <a:spcPts val="2659"/>
                </a:lnSpc>
                <a:spcBef>
                  <a:spcPct val="0"/>
                </a:spcBef>
              </a:pPr>
            </a:p>
            <a:p>
              <a:pPr algn="ctr">
                <a:lnSpc>
                  <a:spcPts val="2659"/>
                </a:lnSpc>
                <a:spcBef>
                  <a:spcPct val="0"/>
                </a:spcBef>
              </a:pPr>
            </a:p>
          </p:txBody>
        </p:sp>
      </p:grpSp>
      <p:grpSp>
        <p:nvGrpSpPr>
          <p:cNvPr name="Group 15" id="15"/>
          <p:cNvGrpSpPr/>
          <p:nvPr/>
        </p:nvGrpSpPr>
        <p:grpSpPr>
          <a:xfrm rot="0">
            <a:off x="15718457" y="703955"/>
            <a:ext cx="2009749" cy="741881"/>
            <a:chOff x="0" y="0"/>
            <a:chExt cx="2679666" cy="989175"/>
          </a:xfrm>
        </p:grpSpPr>
        <p:grpSp>
          <p:nvGrpSpPr>
            <p:cNvPr name="Group 16" id="16"/>
            <p:cNvGrpSpPr/>
            <p:nvPr/>
          </p:nvGrpSpPr>
          <p:grpSpPr>
            <a:xfrm rot="0">
              <a:off x="0" y="0"/>
              <a:ext cx="2679666" cy="989175"/>
              <a:chOff x="0" y="0"/>
              <a:chExt cx="529317" cy="195393"/>
            </a:xfrm>
          </p:grpSpPr>
          <p:sp>
            <p:nvSpPr>
              <p:cNvPr name="Freeform 17" id="17"/>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FFDE59"/>
              </a:solidFill>
              <a:ln w="19050" cap="rnd">
                <a:solidFill>
                  <a:srgbClr val="2A2A2A"/>
                </a:solidFill>
                <a:prstDash val="solid"/>
                <a:round/>
              </a:ln>
            </p:spPr>
          </p:sp>
          <p:sp>
            <p:nvSpPr>
              <p:cNvPr name="TextBox 18" id="18"/>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19" id="19"/>
            <p:cNvSpPr/>
            <p:nvPr/>
          </p:nvSpPr>
          <p:spPr>
            <a:xfrm>
              <a:off x="719436" y="494587"/>
              <a:ext cx="1171216" cy="0"/>
            </a:xfrm>
            <a:prstGeom prst="line">
              <a:avLst/>
            </a:prstGeom>
            <a:ln cap="flat" w="76200">
              <a:solidFill>
                <a:srgbClr val="2A2A2A"/>
              </a:solidFill>
              <a:prstDash val="solid"/>
              <a:headEnd type="none" len="sm" w="sm"/>
              <a:tailEnd type="arrow" len="sm" w="med"/>
            </a:ln>
          </p:spPr>
        </p:sp>
      </p:grpSp>
      <p:grpSp>
        <p:nvGrpSpPr>
          <p:cNvPr name="Group 20" id="20"/>
          <p:cNvGrpSpPr/>
          <p:nvPr/>
        </p:nvGrpSpPr>
        <p:grpSpPr>
          <a:xfrm rot="0">
            <a:off x="1177537" y="1947003"/>
            <a:ext cx="10522298" cy="1490993"/>
            <a:chOff x="0" y="0"/>
            <a:chExt cx="2771305" cy="392689"/>
          </a:xfrm>
        </p:grpSpPr>
        <p:sp>
          <p:nvSpPr>
            <p:cNvPr name="Freeform 21" id="21"/>
            <p:cNvSpPr/>
            <p:nvPr/>
          </p:nvSpPr>
          <p:spPr>
            <a:xfrm flipH="false" flipV="false" rot="0">
              <a:off x="0" y="0"/>
              <a:ext cx="2771305" cy="392689"/>
            </a:xfrm>
            <a:custGeom>
              <a:avLst/>
              <a:gdLst/>
              <a:ahLst/>
              <a:cxnLst/>
              <a:rect r="r" b="b" t="t" l="l"/>
              <a:pathLst>
                <a:path h="392689" w="2771305">
                  <a:moveTo>
                    <a:pt x="20601" y="0"/>
                  </a:moveTo>
                  <a:lnTo>
                    <a:pt x="2750704" y="0"/>
                  </a:lnTo>
                  <a:cubicBezTo>
                    <a:pt x="2756167" y="0"/>
                    <a:pt x="2761407" y="2170"/>
                    <a:pt x="2765271" y="6034"/>
                  </a:cubicBezTo>
                  <a:cubicBezTo>
                    <a:pt x="2769134" y="9898"/>
                    <a:pt x="2771305" y="15138"/>
                    <a:pt x="2771305" y="20601"/>
                  </a:cubicBezTo>
                  <a:lnTo>
                    <a:pt x="2771305" y="372088"/>
                  </a:lnTo>
                  <a:cubicBezTo>
                    <a:pt x="2771305" y="377552"/>
                    <a:pt x="2769134" y="382792"/>
                    <a:pt x="2765271" y="386655"/>
                  </a:cubicBezTo>
                  <a:cubicBezTo>
                    <a:pt x="2761407" y="390519"/>
                    <a:pt x="2756167" y="392689"/>
                    <a:pt x="2750704" y="392689"/>
                  </a:cubicBezTo>
                  <a:lnTo>
                    <a:pt x="20601" y="392689"/>
                  </a:lnTo>
                  <a:cubicBezTo>
                    <a:pt x="15138" y="392689"/>
                    <a:pt x="9898" y="390519"/>
                    <a:pt x="6034" y="386655"/>
                  </a:cubicBezTo>
                  <a:cubicBezTo>
                    <a:pt x="2170" y="382792"/>
                    <a:pt x="0" y="377552"/>
                    <a:pt x="0" y="372088"/>
                  </a:cubicBezTo>
                  <a:lnTo>
                    <a:pt x="0" y="20601"/>
                  </a:lnTo>
                  <a:cubicBezTo>
                    <a:pt x="0" y="15138"/>
                    <a:pt x="2170" y="9898"/>
                    <a:pt x="6034" y="6034"/>
                  </a:cubicBezTo>
                  <a:cubicBezTo>
                    <a:pt x="9898" y="2170"/>
                    <a:pt x="15138" y="0"/>
                    <a:pt x="20601" y="0"/>
                  </a:cubicBezTo>
                  <a:close/>
                </a:path>
              </a:pathLst>
            </a:custGeom>
            <a:solidFill>
              <a:srgbClr val="1D606E"/>
            </a:solidFill>
            <a:ln w="19050" cap="rnd">
              <a:solidFill>
                <a:srgbClr val="2A2A2A"/>
              </a:solidFill>
              <a:prstDash val="solid"/>
              <a:round/>
            </a:ln>
          </p:spPr>
        </p:sp>
        <p:sp>
          <p:nvSpPr>
            <p:cNvPr name="TextBox 22" id="22"/>
            <p:cNvSpPr txBox="true"/>
            <p:nvPr/>
          </p:nvSpPr>
          <p:spPr>
            <a:xfrm>
              <a:off x="0" y="-38100"/>
              <a:ext cx="2771305" cy="430789"/>
            </a:xfrm>
            <a:prstGeom prst="rect">
              <a:avLst/>
            </a:prstGeom>
          </p:spPr>
          <p:txBody>
            <a:bodyPr anchor="ctr" rtlCol="false" tIns="50800" lIns="50800" bIns="50800" rIns="50800"/>
            <a:lstStyle/>
            <a:p>
              <a:pPr algn="just">
                <a:lnSpc>
                  <a:spcPts val="2659"/>
                </a:lnSpc>
              </a:pPr>
              <a:r>
                <a:rPr lang="en-US" b="true" sz="1899">
                  <a:solidFill>
                    <a:srgbClr val="FFFFFF"/>
                  </a:solidFill>
                  <a:latin typeface="Montserrat Bold"/>
                  <a:ea typeface="Montserrat Bold"/>
                  <a:cs typeface="Montserrat Bold"/>
                  <a:sym typeface="Montserrat Bold"/>
                </a:rPr>
                <a:t>Prioritize High-Revenue Products</a:t>
              </a:r>
            </a:p>
            <a:p>
              <a:pPr algn="just">
                <a:lnSpc>
                  <a:spcPts val="2659"/>
                </a:lnSpc>
              </a:pPr>
              <a:r>
                <a:rPr lang="en-US" sz="1899">
                  <a:solidFill>
                    <a:srgbClr val="FFFFFF"/>
                  </a:solidFill>
                  <a:latin typeface="Montserrat"/>
                  <a:ea typeface="Montserrat"/>
                  <a:cs typeface="Montserrat"/>
                  <a:sym typeface="Montserrat"/>
                </a:rPr>
                <a:t>Focus marketing campaigns and inventory planning on Laptop, Tablet, and Watch, as these products contribute the most to overall revenue. Ensuring product availability and strategic promotions can maximize revenue growth.</a:t>
              </a:r>
            </a:p>
          </p:txBody>
        </p:sp>
      </p:grpSp>
      <p:sp>
        <p:nvSpPr>
          <p:cNvPr name="Freeform 23" id="23"/>
          <p:cNvSpPr/>
          <p:nvPr/>
        </p:nvSpPr>
        <p:spPr>
          <a:xfrm flipH="false" flipV="false" rot="0">
            <a:off x="13972327" y="3256817"/>
            <a:ext cx="4584028" cy="5009867"/>
          </a:xfrm>
          <a:custGeom>
            <a:avLst/>
            <a:gdLst/>
            <a:ahLst/>
            <a:cxnLst/>
            <a:rect r="r" b="b" t="t" l="l"/>
            <a:pathLst>
              <a:path h="5009867" w="4584028">
                <a:moveTo>
                  <a:pt x="0" y="0"/>
                </a:moveTo>
                <a:lnTo>
                  <a:pt x="4584029" y="0"/>
                </a:lnTo>
                <a:lnTo>
                  <a:pt x="4584029" y="5009867"/>
                </a:lnTo>
                <a:lnTo>
                  <a:pt x="0" y="50098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1404864" y="436014"/>
            <a:ext cx="10847020" cy="1071071"/>
          </a:xfrm>
          <a:prstGeom prst="rect">
            <a:avLst/>
          </a:prstGeom>
        </p:spPr>
        <p:txBody>
          <a:bodyPr anchor="t" rtlCol="false" tIns="0" lIns="0" bIns="0" rIns="0">
            <a:spAutoFit/>
          </a:bodyPr>
          <a:lstStyle/>
          <a:p>
            <a:pPr algn="l">
              <a:lnSpc>
                <a:spcPts val="8855"/>
              </a:lnSpc>
            </a:pPr>
            <a:r>
              <a:rPr lang="en-US" sz="6325">
                <a:solidFill>
                  <a:srgbClr val="2A2A2A"/>
                </a:solidFill>
                <a:latin typeface="Monomaniac One"/>
                <a:ea typeface="Monomaniac One"/>
                <a:cs typeface="Monomaniac One"/>
                <a:sym typeface="Monomaniac One"/>
              </a:rPr>
              <a:t>E-COMMERCE RECOMENDATIONS</a:t>
            </a:r>
          </a:p>
        </p:txBody>
      </p:sp>
      <p:grpSp>
        <p:nvGrpSpPr>
          <p:cNvPr name="Group 25" id="25"/>
          <p:cNvGrpSpPr/>
          <p:nvPr/>
        </p:nvGrpSpPr>
        <p:grpSpPr>
          <a:xfrm rot="0">
            <a:off x="1177537" y="3876146"/>
            <a:ext cx="10522298" cy="1824368"/>
            <a:chOff x="0" y="0"/>
            <a:chExt cx="2771305" cy="480492"/>
          </a:xfrm>
        </p:grpSpPr>
        <p:sp>
          <p:nvSpPr>
            <p:cNvPr name="Freeform 26" id="26"/>
            <p:cNvSpPr/>
            <p:nvPr/>
          </p:nvSpPr>
          <p:spPr>
            <a:xfrm flipH="false" flipV="false" rot="0">
              <a:off x="0" y="0"/>
              <a:ext cx="2771305" cy="480492"/>
            </a:xfrm>
            <a:custGeom>
              <a:avLst/>
              <a:gdLst/>
              <a:ahLst/>
              <a:cxnLst/>
              <a:rect r="r" b="b" t="t" l="l"/>
              <a:pathLst>
                <a:path h="480492" w="2771305">
                  <a:moveTo>
                    <a:pt x="20601" y="0"/>
                  </a:moveTo>
                  <a:lnTo>
                    <a:pt x="2750704" y="0"/>
                  </a:lnTo>
                  <a:cubicBezTo>
                    <a:pt x="2756167" y="0"/>
                    <a:pt x="2761407" y="2170"/>
                    <a:pt x="2765271" y="6034"/>
                  </a:cubicBezTo>
                  <a:cubicBezTo>
                    <a:pt x="2769134" y="9898"/>
                    <a:pt x="2771305" y="15138"/>
                    <a:pt x="2771305" y="20601"/>
                  </a:cubicBezTo>
                  <a:lnTo>
                    <a:pt x="2771305" y="459891"/>
                  </a:lnTo>
                  <a:cubicBezTo>
                    <a:pt x="2771305" y="465354"/>
                    <a:pt x="2769134" y="470594"/>
                    <a:pt x="2765271" y="474458"/>
                  </a:cubicBezTo>
                  <a:cubicBezTo>
                    <a:pt x="2761407" y="478321"/>
                    <a:pt x="2756167" y="480492"/>
                    <a:pt x="2750704" y="480492"/>
                  </a:cubicBezTo>
                  <a:lnTo>
                    <a:pt x="20601" y="480492"/>
                  </a:lnTo>
                  <a:cubicBezTo>
                    <a:pt x="15138" y="480492"/>
                    <a:pt x="9898" y="478321"/>
                    <a:pt x="6034" y="474458"/>
                  </a:cubicBezTo>
                  <a:cubicBezTo>
                    <a:pt x="2170" y="470594"/>
                    <a:pt x="0" y="465354"/>
                    <a:pt x="0" y="459891"/>
                  </a:cubicBezTo>
                  <a:lnTo>
                    <a:pt x="0" y="20601"/>
                  </a:lnTo>
                  <a:cubicBezTo>
                    <a:pt x="0" y="15138"/>
                    <a:pt x="2170" y="9898"/>
                    <a:pt x="6034" y="6034"/>
                  </a:cubicBezTo>
                  <a:cubicBezTo>
                    <a:pt x="9898" y="2170"/>
                    <a:pt x="15138" y="0"/>
                    <a:pt x="20601" y="0"/>
                  </a:cubicBezTo>
                  <a:close/>
                </a:path>
              </a:pathLst>
            </a:custGeom>
            <a:solidFill>
              <a:srgbClr val="1D606E"/>
            </a:solidFill>
            <a:ln w="19050" cap="rnd">
              <a:solidFill>
                <a:srgbClr val="2A2A2A"/>
              </a:solidFill>
              <a:prstDash val="solid"/>
              <a:round/>
            </a:ln>
          </p:spPr>
        </p:sp>
        <p:sp>
          <p:nvSpPr>
            <p:cNvPr name="TextBox 27" id="27"/>
            <p:cNvSpPr txBox="true"/>
            <p:nvPr/>
          </p:nvSpPr>
          <p:spPr>
            <a:xfrm>
              <a:off x="0" y="-38100"/>
              <a:ext cx="2771305" cy="518592"/>
            </a:xfrm>
            <a:prstGeom prst="rect">
              <a:avLst/>
            </a:prstGeom>
          </p:spPr>
          <p:txBody>
            <a:bodyPr anchor="ctr" rtlCol="false" tIns="50800" lIns="50800" bIns="50800" rIns="50800"/>
            <a:lstStyle/>
            <a:p>
              <a:pPr algn="just">
                <a:lnSpc>
                  <a:spcPts val="2659"/>
                </a:lnSpc>
              </a:pPr>
              <a:r>
                <a:rPr lang="en-US" b="true" sz="1899">
                  <a:solidFill>
                    <a:srgbClr val="FFFFFF"/>
                  </a:solidFill>
                  <a:latin typeface="Montserrat Bold"/>
                  <a:ea typeface="Montserrat Bold"/>
                  <a:cs typeface="Montserrat Bold"/>
                  <a:sym typeface="Montserrat Bold"/>
                </a:rPr>
                <a:t>Strengthen Customer Retention Strategies</a:t>
              </a:r>
            </a:p>
            <a:p>
              <a:pPr algn="just">
                <a:lnSpc>
                  <a:spcPts val="2659"/>
                </a:lnSpc>
              </a:pPr>
              <a:r>
                <a:rPr lang="en-US" sz="1899">
                  <a:solidFill>
                    <a:srgbClr val="FFFFFF"/>
                  </a:solidFill>
                  <a:latin typeface="Montserrat"/>
                  <a:ea typeface="Montserrat"/>
                  <a:cs typeface="Montserrat"/>
                  <a:sym typeface="Montserrat"/>
                </a:rPr>
                <a:t>Since New Customers represent the largest customer segment, the company should implement loyalty programs, personalized promotions, and post-purchase engagement strategies to encourage repeat purchases and increase customer lifetime value.</a:t>
              </a:r>
            </a:p>
          </p:txBody>
        </p:sp>
      </p:grpSp>
      <p:grpSp>
        <p:nvGrpSpPr>
          <p:cNvPr name="Group 28" id="28"/>
          <p:cNvGrpSpPr/>
          <p:nvPr/>
        </p:nvGrpSpPr>
        <p:grpSpPr>
          <a:xfrm rot="0">
            <a:off x="1177537" y="6138663"/>
            <a:ext cx="10522298" cy="1490993"/>
            <a:chOff x="0" y="0"/>
            <a:chExt cx="2771305" cy="392689"/>
          </a:xfrm>
        </p:grpSpPr>
        <p:sp>
          <p:nvSpPr>
            <p:cNvPr name="Freeform 29" id="29"/>
            <p:cNvSpPr/>
            <p:nvPr/>
          </p:nvSpPr>
          <p:spPr>
            <a:xfrm flipH="false" flipV="false" rot="0">
              <a:off x="0" y="0"/>
              <a:ext cx="2771305" cy="392689"/>
            </a:xfrm>
            <a:custGeom>
              <a:avLst/>
              <a:gdLst/>
              <a:ahLst/>
              <a:cxnLst/>
              <a:rect r="r" b="b" t="t" l="l"/>
              <a:pathLst>
                <a:path h="392689" w="2771305">
                  <a:moveTo>
                    <a:pt x="20601" y="0"/>
                  </a:moveTo>
                  <a:lnTo>
                    <a:pt x="2750704" y="0"/>
                  </a:lnTo>
                  <a:cubicBezTo>
                    <a:pt x="2756167" y="0"/>
                    <a:pt x="2761407" y="2170"/>
                    <a:pt x="2765271" y="6034"/>
                  </a:cubicBezTo>
                  <a:cubicBezTo>
                    <a:pt x="2769134" y="9898"/>
                    <a:pt x="2771305" y="15138"/>
                    <a:pt x="2771305" y="20601"/>
                  </a:cubicBezTo>
                  <a:lnTo>
                    <a:pt x="2771305" y="372088"/>
                  </a:lnTo>
                  <a:cubicBezTo>
                    <a:pt x="2771305" y="377552"/>
                    <a:pt x="2769134" y="382792"/>
                    <a:pt x="2765271" y="386655"/>
                  </a:cubicBezTo>
                  <a:cubicBezTo>
                    <a:pt x="2761407" y="390519"/>
                    <a:pt x="2756167" y="392689"/>
                    <a:pt x="2750704" y="392689"/>
                  </a:cubicBezTo>
                  <a:lnTo>
                    <a:pt x="20601" y="392689"/>
                  </a:lnTo>
                  <a:cubicBezTo>
                    <a:pt x="15138" y="392689"/>
                    <a:pt x="9898" y="390519"/>
                    <a:pt x="6034" y="386655"/>
                  </a:cubicBezTo>
                  <a:cubicBezTo>
                    <a:pt x="2170" y="382792"/>
                    <a:pt x="0" y="377552"/>
                    <a:pt x="0" y="372088"/>
                  </a:cubicBezTo>
                  <a:lnTo>
                    <a:pt x="0" y="20601"/>
                  </a:lnTo>
                  <a:cubicBezTo>
                    <a:pt x="0" y="15138"/>
                    <a:pt x="2170" y="9898"/>
                    <a:pt x="6034" y="6034"/>
                  </a:cubicBezTo>
                  <a:cubicBezTo>
                    <a:pt x="9898" y="2170"/>
                    <a:pt x="15138" y="0"/>
                    <a:pt x="20601" y="0"/>
                  </a:cubicBezTo>
                  <a:close/>
                </a:path>
              </a:pathLst>
            </a:custGeom>
            <a:solidFill>
              <a:srgbClr val="1D606E"/>
            </a:solidFill>
            <a:ln w="19050" cap="rnd">
              <a:solidFill>
                <a:srgbClr val="2A2A2A"/>
              </a:solidFill>
              <a:prstDash val="solid"/>
              <a:round/>
            </a:ln>
          </p:spPr>
        </p:sp>
        <p:sp>
          <p:nvSpPr>
            <p:cNvPr name="TextBox 30" id="30"/>
            <p:cNvSpPr txBox="true"/>
            <p:nvPr/>
          </p:nvSpPr>
          <p:spPr>
            <a:xfrm>
              <a:off x="0" y="-38100"/>
              <a:ext cx="2771305" cy="430789"/>
            </a:xfrm>
            <a:prstGeom prst="rect">
              <a:avLst/>
            </a:prstGeom>
          </p:spPr>
          <p:txBody>
            <a:bodyPr anchor="ctr" rtlCol="false" tIns="50800" lIns="50800" bIns="50800" rIns="50800"/>
            <a:lstStyle/>
            <a:p>
              <a:pPr algn="just">
                <a:lnSpc>
                  <a:spcPts val="2659"/>
                </a:lnSpc>
              </a:pPr>
              <a:r>
                <a:rPr lang="en-US" sz="1899" b="true">
                  <a:solidFill>
                    <a:srgbClr val="FFFFFF"/>
                  </a:solidFill>
                  <a:latin typeface="Montserrat Bold"/>
                  <a:ea typeface="Montserrat Bold"/>
                  <a:cs typeface="Montserrat Bold"/>
                  <a:sym typeface="Montserrat Bold"/>
                </a:rPr>
                <a:t>Op</a:t>
              </a:r>
              <a:r>
                <a:rPr lang="en-US" b="true" sz="1899">
                  <a:solidFill>
                    <a:srgbClr val="FFFFFF"/>
                  </a:solidFill>
                  <a:latin typeface="Montserrat Bold"/>
                  <a:ea typeface="Montserrat Bold"/>
                  <a:cs typeface="Montserrat Bold"/>
                  <a:sym typeface="Montserrat Bold"/>
                </a:rPr>
                <a:t>timize Inventory Based on Sales Performance</a:t>
              </a:r>
            </a:p>
            <a:p>
              <a:pPr algn="just">
                <a:lnSpc>
                  <a:spcPts val="2659"/>
                </a:lnSpc>
              </a:pPr>
              <a:r>
                <a:rPr lang="en-US" sz="1899">
                  <a:solidFill>
                    <a:srgbClr val="FFFFFF"/>
                  </a:solidFill>
                  <a:latin typeface="Montserrat"/>
                  <a:ea typeface="Montserrat"/>
                  <a:cs typeface="Montserrat"/>
                  <a:sym typeface="Montserrat"/>
                </a:rPr>
                <a:t>Products with consistently high sales volume should be prioritized in inventory planning to reduce stock-out risks and improve customer satisfaction, especially during high-demand periods.</a:t>
              </a:r>
            </a:p>
          </p:txBody>
        </p:sp>
      </p:grpSp>
      <p:grpSp>
        <p:nvGrpSpPr>
          <p:cNvPr name="Group 31" id="31"/>
          <p:cNvGrpSpPr/>
          <p:nvPr/>
        </p:nvGrpSpPr>
        <p:grpSpPr>
          <a:xfrm rot="0">
            <a:off x="1177537" y="8067806"/>
            <a:ext cx="10522298" cy="1490993"/>
            <a:chOff x="0" y="0"/>
            <a:chExt cx="2771305" cy="392689"/>
          </a:xfrm>
        </p:grpSpPr>
        <p:sp>
          <p:nvSpPr>
            <p:cNvPr name="Freeform 32" id="32"/>
            <p:cNvSpPr/>
            <p:nvPr/>
          </p:nvSpPr>
          <p:spPr>
            <a:xfrm flipH="false" flipV="false" rot="0">
              <a:off x="0" y="0"/>
              <a:ext cx="2771305" cy="392689"/>
            </a:xfrm>
            <a:custGeom>
              <a:avLst/>
              <a:gdLst/>
              <a:ahLst/>
              <a:cxnLst/>
              <a:rect r="r" b="b" t="t" l="l"/>
              <a:pathLst>
                <a:path h="392689" w="2771305">
                  <a:moveTo>
                    <a:pt x="20601" y="0"/>
                  </a:moveTo>
                  <a:lnTo>
                    <a:pt x="2750704" y="0"/>
                  </a:lnTo>
                  <a:cubicBezTo>
                    <a:pt x="2756167" y="0"/>
                    <a:pt x="2761407" y="2170"/>
                    <a:pt x="2765271" y="6034"/>
                  </a:cubicBezTo>
                  <a:cubicBezTo>
                    <a:pt x="2769134" y="9898"/>
                    <a:pt x="2771305" y="15138"/>
                    <a:pt x="2771305" y="20601"/>
                  </a:cubicBezTo>
                  <a:lnTo>
                    <a:pt x="2771305" y="372088"/>
                  </a:lnTo>
                  <a:cubicBezTo>
                    <a:pt x="2771305" y="377552"/>
                    <a:pt x="2769134" y="382792"/>
                    <a:pt x="2765271" y="386655"/>
                  </a:cubicBezTo>
                  <a:cubicBezTo>
                    <a:pt x="2761407" y="390519"/>
                    <a:pt x="2756167" y="392689"/>
                    <a:pt x="2750704" y="392689"/>
                  </a:cubicBezTo>
                  <a:lnTo>
                    <a:pt x="20601" y="392689"/>
                  </a:lnTo>
                  <a:cubicBezTo>
                    <a:pt x="15138" y="392689"/>
                    <a:pt x="9898" y="390519"/>
                    <a:pt x="6034" y="386655"/>
                  </a:cubicBezTo>
                  <a:cubicBezTo>
                    <a:pt x="2170" y="382792"/>
                    <a:pt x="0" y="377552"/>
                    <a:pt x="0" y="372088"/>
                  </a:cubicBezTo>
                  <a:lnTo>
                    <a:pt x="0" y="20601"/>
                  </a:lnTo>
                  <a:cubicBezTo>
                    <a:pt x="0" y="15138"/>
                    <a:pt x="2170" y="9898"/>
                    <a:pt x="6034" y="6034"/>
                  </a:cubicBezTo>
                  <a:cubicBezTo>
                    <a:pt x="9898" y="2170"/>
                    <a:pt x="15138" y="0"/>
                    <a:pt x="20601" y="0"/>
                  </a:cubicBezTo>
                  <a:close/>
                </a:path>
              </a:pathLst>
            </a:custGeom>
            <a:solidFill>
              <a:srgbClr val="1D606E"/>
            </a:solidFill>
            <a:ln w="19050" cap="rnd">
              <a:solidFill>
                <a:srgbClr val="2A2A2A"/>
              </a:solidFill>
              <a:prstDash val="solid"/>
              <a:round/>
            </a:ln>
          </p:spPr>
        </p:sp>
        <p:sp>
          <p:nvSpPr>
            <p:cNvPr name="TextBox 33" id="33"/>
            <p:cNvSpPr txBox="true"/>
            <p:nvPr/>
          </p:nvSpPr>
          <p:spPr>
            <a:xfrm>
              <a:off x="0" y="-38100"/>
              <a:ext cx="2771305" cy="430789"/>
            </a:xfrm>
            <a:prstGeom prst="rect">
              <a:avLst/>
            </a:prstGeom>
          </p:spPr>
          <p:txBody>
            <a:bodyPr anchor="ctr" rtlCol="false" tIns="50800" lIns="50800" bIns="50800" rIns="50800"/>
            <a:lstStyle/>
            <a:p>
              <a:pPr algn="just">
                <a:lnSpc>
                  <a:spcPts val="2659"/>
                </a:lnSpc>
              </a:pPr>
              <a:r>
                <a:rPr lang="en-US" sz="1899" b="true">
                  <a:solidFill>
                    <a:srgbClr val="FFFFFF"/>
                  </a:solidFill>
                  <a:latin typeface="Montserrat Bold"/>
                  <a:ea typeface="Montserrat Bold"/>
                  <a:cs typeface="Montserrat Bold"/>
                  <a:sym typeface="Montserrat Bold"/>
                </a:rPr>
                <a:t>E</a:t>
              </a:r>
              <a:r>
                <a:rPr lang="en-US" b="true" sz="1899">
                  <a:solidFill>
                    <a:srgbClr val="FFFFFF"/>
                  </a:solidFill>
                  <a:latin typeface="Montserrat Bold"/>
                  <a:ea typeface="Montserrat Bold"/>
                  <a:cs typeface="Montserrat Bold"/>
                  <a:sym typeface="Montserrat Bold"/>
                </a:rPr>
                <a:t>nhance Digital Payment Experience</a:t>
              </a:r>
            </a:p>
            <a:p>
              <a:pPr algn="just">
                <a:lnSpc>
                  <a:spcPts val="2659"/>
                </a:lnSpc>
              </a:pPr>
              <a:r>
                <a:rPr lang="en-US" sz="1899">
                  <a:solidFill>
                    <a:srgbClr val="FFFFFF"/>
                  </a:solidFill>
                  <a:latin typeface="Montserrat"/>
                  <a:ea typeface="Montserrat"/>
                  <a:cs typeface="Montserrat"/>
                  <a:sym typeface="Montserrat"/>
                </a:rPr>
                <a:t>As UPI is the most preferred payment method, the company should continue optimizing digital payment services and consider offering incentives such as cashback or discounts to encourage digital transactions.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1028700" y="-485622"/>
            <a:ext cx="11540902" cy="11596486"/>
            <a:chOff x="0" y="0"/>
            <a:chExt cx="3039579" cy="3054218"/>
          </a:xfrm>
        </p:grpSpPr>
        <p:sp>
          <p:nvSpPr>
            <p:cNvPr name="Freeform 13" id="13"/>
            <p:cNvSpPr/>
            <p:nvPr/>
          </p:nvSpPr>
          <p:spPr>
            <a:xfrm flipH="false" flipV="false" rot="0">
              <a:off x="0" y="0"/>
              <a:ext cx="3039579" cy="3054218"/>
            </a:xfrm>
            <a:custGeom>
              <a:avLst/>
              <a:gdLst/>
              <a:ahLst/>
              <a:cxnLst/>
              <a:rect r="r" b="b" t="t" l="l"/>
              <a:pathLst>
                <a:path h="3054218" w="3039579">
                  <a:moveTo>
                    <a:pt x="0" y="0"/>
                  </a:moveTo>
                  <a:lnTo>
                    <a:pt x="3039579" y="0"/>
                  </a:lnTo>
                  <a:lnTo>
                    <a:pt x="3039579" y="3054218"/>
                  </a:lnTo>
                  <a:lnTo>
                    <a:pt x="0" y="3054218"/>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3039579" cy="309231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821867" y="2293934"/>
            <a:ext cx="1773372" cy="909675"/>
            <a:chOff x="0" y="0"/>
            <a:chExt cx="467061" cy="239585"/>
          </a:xfrm>
        </p:grpSpPr>
        <p:sp>
          <p:nvSpPr>
            <p:cNvPr name="Freeform 16" id="16"/>
            <p:cNvSpPr/>
            <p:nvPr/>
          </p:nvSpPr>
          <p:spPr>
            <a:xfrm flipH="false" flipV="false" rot="0">
              <a:off x="0" y="0"/>
              <a:ext cx="467061" cy="239585"/>
            </a:xfrm>
            <a:custGeom>
              <a:avLst/>
              <a:gdLst/>
              <a:ahLst/>
              <a:cxnLst/>
              <a:rect r="r" b="b" t="t" l="l"/>
              <a:pathLst>
                <a:path h="239585" w="467061">
                  <a:moveTo>
                    <a:pt x="0" y="0"/>
                  </a:moveTo>
                  <a:lnTo>
                    <a:pt x="467061" y="0"/>
                  </a:lnTo>
                  <a:lnTo>
                    <a:pt x="467061" y="239585"/>
                  </a:lnTo>
                  <a:lnTo>
                    <a:pt x="0" y="239585"/>
                  </a:lnTo>
                  <a:close/>
                </a:path>
              </a:pathLst>
            </a:custGeom>
            <a:solidFill>
              <a:srgbClr val="FABD0B"/>
            </a:solidFill>
            <a:ln w="19050" cap="sq">
              <a:solidFill>
                <a:srgbClr val="2A2A2A"/>
              </a:solidFill>
              <a:prstDash val="solid"/>
              <a:miter/>
            </a:ln>
          </p:spPr>
        </p:sp>
        <p:sp>
          <p:nvSpPr>
            <p:cNvPr name="TextBox 17" id="17"/>
            <p:cNvSpPr txBox="true"/>
            <p:nvPr/>
          </p:nvSpPr>
          <p:spPr>
            <a:xfrm>
              <a:off x="0" y="-38100"/>
              <a:ext cx="467061" cy="27768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21867" y="4327558"/>
            <a:ext cx="1773372" cy="909675"/>
            <a:chOff x="0" y="0"/>
            <a:chExt cx="467061" cy="239585"/>
          </a:xfrm>
        </p:grpSpPr>
        <p:sp>
          <p:nvSpPr>
            <p:cNvPr name="Freeform 19" id="19"/>
            <p:cNvSpPr/>
            <p:nvPr/>
          </p:nvSpPr>
          <p:spPr>
            <a:xfrm flipH="false" flipV="false" rot="0">
              <a:off x="0" y="0"/>
              <a:ext cx="467061" cy="239585"/>
            </a:xfrm>
            <a:custGeom>
              <a:avLst/>
              <a:gdLst/>
              <a:ahLst/>
              <a:cxnLst/>
              <a:rect r="r" b="b" t="t" l="l"/>
              <a:pathLst>
                <a:path h="239585" w="467061">
                  <a:moveTo>
                    <a:pt x="0" y="0"/>
                  </a:moveTo>
                  <a:lnTo>
                    <a:pt x="467061" y="0"/>
                  </a:lnTo>
                  <a:lnTo>
                    <a:pt x="467061" y="239585"/>
                  </a:lnTo>
                  <a:lnTo>
                    <a:pt x="0" y="239585"/>
                  </a:lnTo>
                  <a:close/>
                </a:path>
              </a:pathLst>
            </a:custGeom>
            <a:solidFill>
              <a:srgbClr val="FABD0B"/>
            </a:solidFill>
            <a:ln w="19050" cap="sq">
              <a:solidFill>
                <a:srgbClr val="2A2A2A"/>
              </a:solidFill>
              <a:prstDash val="solid"/>
              <a:miter/>
            </a:ln>
          </p:spPr>
        </p:sp>
        <p:sp>
          <p:nvSpPr>
            <p:cNvPr name="TextBox 20" id="20"/>
            <p:cNvSpPr txBox="true"/>
            <p:nvPr/>
          </p:nvSpPr>
          <p:spPr>
            <a:xfrm>
              <a:off x="0" y="-38100"/>
              <a:ext cx="467061" cy="27768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821867" y="6442176"/>
            <a:ext cx="1773372" cy="909675"/>
            <a:chOff x="0" y="0"/>
            <a:chExt cx="467061" cy="239585"/>
          </a:xfrm>
        </p:grpSpPr>
        <p:sp>
          <p:nvSpPr>
            <p:cNvPr name="Freeform 22" id="22"/>
            <p:cNvSpPr/>
            <p:nvPr/>
          </p:nvSpPr>
          <p:spPr>
            <a:xfrm flipH="false" flipV="false" rot="0">
              <a:off x="0" y="0"/>
              <a:ext cx="467061" cy="239585"/>
            </a:xfrm>
            <a:custGeom>
              <a:avLst/>
              <a:gdLst/>
              <a:ahLst/>
              <a:cxnLst/>
              <a:rect r="r" b="b" t="t" l="l"/>
              <a:pathLst>
                <a:path h="239585" w="467061">
                  <a:moveTo>
                    <a:pt x="0" y="0"/>
                  </a:moveTo>
                  <a:lnTo>
                    <a:pt x="467061" y="0"/>
                  </a:lnTo>
                  <a:lnTo>
                    <a:pt x="467061" y="239585"/>
                  </a:lnTo>
                  <a:lnTo>
                    <a:pt x="0" y="239585"/>
                  </a:lnTo>
                  <a:close/>
                </a:path>
              </a:pathLst>
            </a:custGeom>
            <a:solidFill>
              <a:srgbClr val="FABD0B"/>
            </a:solidFill>
            <a:ln w="19050" cap="sq">
              <a:solidFill>
                <a:srgbClr val="2A2A2A"/>
              </a:solidFill>
              <a:prstDash val="solid"/>
              <a:miter/>
            </a:ln>
          </p:spPr>
        </p:sp>
        <p:sp>
          <p:nvSpPr>
            <p:cNvPr name="TextBox 23" id="23"/>
            <p:cNvSpPr txBox="true"/>
            <p:nvPr/>
          </p:nvSpPr>
          <p:spPr>
            <a:xfrm>
              <a:off x="0" y="-38100"/>
              <a:ext cx="467061" cy="277685"/>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1826725" y="3270283"/>
            <a:ext cx="6167305" cy="4502133"/>
          </a:xfrm>
          <a:custGeom>
            <a:avLst/>
            <a:gdLst/>
            <a:ahLst/>
            <a:cxnLst/>
            <a:rect r="r" b="b" t="t" l="l"/>
            <a:pathLst>
              <a:path h="4502133" w="6167305">
                <a:moveTo>
                  <a:pt x="0" y="0"/>
                </a:moveTo>
                <a:lnTo>
                  <a:pt x="6167306" y="0"/>
                </a:lnTo>
                <a:lnTo>
                  <a:pt x="6167306" y="4502133"/>
                </a:lnTo>
                <a:lnTo>
                  <a:pt x="0" y="45021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1548057" y="132556"/>
            <a:ext cx="7595943" cy="1717676"/>
          </a:xfrm>
          <a:prstGeom prst="rect">
            <a:avLst/>
          </a:prstGeom>
        </p:spPr>
        <p:txBody>
          <a:bodyPr anchor="t" rtlCol="false" tIns="0" lIns="0" bIns="0" rIns="0">
            <a:spAutoFit/>
          </a:bodyPr>
          <a:lstStyle/>
          <a:p>
            <a:pPr algn="l">
              <a:lnSpc>
                <a:spcPts val="13999"/>
              </a:lnSpc>
            </a:pPr>
            <a:r>
              <a:rPr lang="en-US" sz="9999">
                <a:solidFill>
                  <a:srgbClr val="2A2A2A"/>
                </a:solidFill>
                <a:latin typeface="Bebas Neue"/>
                <a:ea typeface="Bebas Neue"/>
                <a:cs typeface="Bebas Neue"/>
                <a:sym typeface="Bebas Neue"/>
              </a:rPr>
              <a:t>BUSINESS IMPACT</a:t>
            </a:r>
          </a:p>
        </p:txBody>
      </p:sp>
      <p:sp>
        <p:nvSpPr>
          <p:cNvPr name="TextBox 26" id="26"/>
          <p:cNvSpPr txBox="true"/>
          <p:nvPr/>
        </p:nvSpPr>
        <p:spPr>
          <a:xfrm rot="0">
            <a:off x="3233404" y="1877666"/>
            <a:ext cx="7666182" cy="2072640"/>
          </a:xfrm>
          <a:prstGeom prst="rect">
            <a:avLst/>
          </a:prstGeom>
        </p:spPr>
        <p:txBody>
          <a:bodyPr anchor="t" rtlCol="false" tIns="0" lIns="0" bIns="0" rIns="0">
            <a:spAutoFit/>
          </a:bodyPr>
          <a:lstStyle/>
          <a:p>
            <a:pPr algn="just">
              <a:lnSpc>
                <a:spcPts val="3359"/>
              </a:lnSpc>
            </a:pPr>
            <a:r>
              <a:rPr lang="en-US" sz="2400">
                <a:solidFill>
                  <a:srgbClr val="2A2A2A"/>
                </a:solidFill>
                <a:latin typeface="Montserrat"/>
                <a:ea typeface="Montserrat"/>
                <a:cs typeface="Montserrat"/>
                <a:sym typeface="Montserrat"/>
              </a:rPr>
              <a:t>By pri</a:t>
            </a:r>
            <a:r>
              <a:rPr lang="en-US" sz="2400">
                <a:solidFill>
                  <a:srgbClr val="2A2A2A"/>
                </a:solidFill>
                <a:latin typeface="Montserrat"/>
                <a:ea typeface="Montserrat"/>
                <a:cs typeface="Montserrat"/>
                <a:sym typeface="Montserrat"/>
              </a:rPr>
              <a:t>oritizing high-performing products and categories, the company can maximize revenue opportunities and improve overall sales performance.</a:t>
            </a:r>
          </a:p>
          <a:p>
            <a:pPr algn="just">
              <a:lnSpc>
                <a:spcPts val="3359"/>
              </a:lnSpc>
            </a:pPr>
          </a:p>
        </p:txBody>
      </p:sp>
      <p:sp>
        <p:nvSpPr>
          <p:cNvPr name="TextBox 27" id="27"/>
          <p:cNvSpPr txBox="true"/>
          <p:nvPr/>
        </p:nvSpPr>
        <p:spPr>
          <a:xfrm rot="0">
            <a:off x="3233404" y="3978881"/>
            <a:ext cx="7666182" cy="1653540"/>
          </a:xfrm>
          <a:prstGeom prst="rect">
            <a:avLst/>
          </a:prstGeom>
        </p:spPr>
        <p:txBody>
          <a:bodyPr anchor="t" rtlCol="false" tIns="0" lIns="0" bIns="0" rIns="0">
            <a:spAutoFit/>
          </a:bodyPr>
          <a:lstStyle/>
          <a:p>
            <a:pPr algn="just">
              <a:lnSpc>
                <a:spcPts val="3359"/>
              </a:lnSpc>
            </a:pPr>
            <a:r>
              <a:rPr lang="en-US" sz="2399">
                <a:solidFill>
                  <a:srgbClr val="2A2A2A"/>
                </a:solidFill>
                <a:latin typeface="Montserrat"/>
                <a:ea typeface="Montserrat"/>
                <a:cs typeface="Montserrat"/>
                <a:sym typeface="Montserrat"/>
              </a:rPr>
              <a:t>Impl</a:t>
            </a:r>
            <a:r>
              <a:rPr lang="en-US" sz="2399">
                <a:solidFill>
                  <a:srgbClr val="2A2A2A"/>
                </a:solidFill>
                <a:latin typeface="Montserrat"/>
                <a:ea typeface="Montserrat"/>
                <a:cs typeface="Montserrat"/>
                <a:sym typeface="Montserrat"/>
              </a:rPr>
              <a:t>ementing customer retention strategies can encourage repeat purchases, increase customer lifetime value, and reduce customer acquisition costs.</a:t>
            </a:r>
          </a:p>
        </p:txBody>
      </p:sp>
      <p:sp>
        <p:nvSpPr>
          <p:cNvPr name="TextBox 28" id="28"/>
          <p:cNvSpPr txBox="true"/>
          <p:nvPr/>
        </p:nvSpPr>
        <p:spPr>
          <a:xfrm rot="0">
            <a:off x="3233404" y="6003003"/>
            <a:ext cx="7666182" cy="1653540"/>
          </a:xfrm>
          <a:prstGeom prst="rect">
            <a:avLst/>
          </a:prstGeom>
        </p:spPr>
        <p:txBody>
          <a:bodyPr anchor="t" rtlCol="false" tIns="0" lIns="0" bIns="0" rIns="0">
            <a:spAutoFit/>
          </a:bodyPr>
          <a:lstStyle/>
          <a:p>
            <a:pPr algn="just">
              <a:lnSpc>
                <a:spcPts val="3359"/>
              </a:lnSpc>
            </a:pPr>
            <a:r>
              <a:rPr lang="en-US" sz="2399">
                <a:solidFill>
                  <a:srgbClr val="2A2A2A"/>
                </a:solidFill>
                <a:latin typeface="Montserrat"/>
                <a:ea typeface="Montserrat"/>
                <a:cs typeface="Montserrat"/>
                <a:sym typeface="Montserrat"/>
              </a:rPr>
              <a:t>Unde</a:t>
            </a:r>
            <a:r>
              <a:rPr lang="en-US" sz="2399">
                <a:solidFill>
                  <a:srgbClr val="2A2A2A"/>
                </a:solidFill>
                <a:latin typeface="Montserrat"/>
                <a:ea typeface="Montserrat"/>
                <a:cs typeface="Montserrat"/>
                <a:sym typeface="Montserrat"/>
              </a:rPr>
              <a:t>rstanding which products generate the highest revenue and sales volume enables more effective inventory planning, reducing stock shortages and excess inventory.</a:t>
            </a:r>
          </a:p>
        </p:txBody>
      </p:sp>
      <p:sp>
        <p:nvSpPr>
          <p:cNvPr name="TextBox 29" id="29"/>
          <p:cNvSpPr txBox="true"/>
          <p:nvPr/>
        </p:nvSpPr>
        <p:spPr>
          <a:xfrm rot="0">
            <a:off x="1548057" y="2076483"/>
            <a:ext cx="320993" cy="1193800"/>
          </a:xfrm>
          <a:prstGeom prst="rect">
            <a:avLst/>
          </a:prstGeom>
        </p:spPr>
        <p:txBody>
          <a:bodyPr anchor="t" rtlCol="false" tIns="0" lIns="0" bIns="0" rIns="0">
            <a:spAutoFit/>
          </a:bodyPr>
          <a:lstStyle/>
          <a:p>
            <a:pPr algn="l">
              <a:lnSpc>
                <a:spcPts val="9799"/>
              </a:lnSpc>
            </a:pPr>
            <a:r>
              <a:rPr lang="en-US" sz="6999">
                <a:solidFill>
                  <a:srgbClr val="2A2A2A"/>
                </a:solidFill>
                <a:latin typeface="Montserrat"/>
                <a:ea typeface="Montserrat"/>
                <a:cs typeface="Montserrat"/>
                <a:sym typeface="Montserrat"/>
              </a:rPr>
              <a:t>1</a:t>
            </a:r>
          </a:p>
        </p:txBody>
      </p:sp>
      <p:sp>
        <p:nvSpPr>
          <p:cNvPr name="TextBox 30" id="30"/>
          <p:cNvSpPr txBox="true"/>
          <p:nvPr/>
        </p:nvSpPr>
        <p:spPr>
          <a:xfrm rot="0">
            <a:off x="1548057" y="4118821"/>
            <a:ext cx="952454" cy="1193800"/>
          </a:xfrm>
          <a:prstGeom prst="rect">
            <a:avLst/>
          </a:prstGeom>
        </p:spPr>
        <p:txBody>
          <a:bodyPr anchor="t" rtlCol="false" tIns="0" lIns="0" bIns="0" rIns="0">
            <a:spAutoFit/>
          </a:bodyPr>
          <a:lstStyle/>
          <a:p>
            <a:pPr algn="l">
              <a:lnSpc>
                <a:spcPts val="9799"/>
              </a:lnSpc>
            </a:pPr>
            <a:r>
              <a:rPr lang="en-US" sz="6999">
                <a:solidFill>
                  <a:srgbClr val="2A2A2A"/>
                </a:solidFill>
                <a:latin typeface="Montserrat"/>
                <a:ea typeface="Montserrat"/>
                <a:cs typeface="Montserrat"/>
                <a:sym typeface="Montserrat"/>
              </a:rPr>
              <a:t>2</a:t>
            </a:r>
          </a:p>
        </p:txBody>
      </p:sp>
      <p:sp>
        <p:nvSpPr>
          <p:cNvPr name="TextBox 31" id="31"/>
          <p:cNvSpPr txBox="true"/>
          <p:nvPr/>
        </p:nvSpPr>
        <p:spPr>
          <a:xfrm rot="0">
            <a:off x="1548057" y="6236546"/>
            <a:ext cx="952454" cy="1193800"/>
          </a:xfrm>
          <a:prstGeom prst="rect">
            <a:avLst/>
          </a:prstGeom>
        </p:spPr>
        <p:txBody>
          <a:bodyPr anchor="t" rtlCol="false" tIns="0" lIns="0" bIns="0" rIns="0">
            <a:spAutoFit/>
          </a:bodyPr>
          <a:lstStyle/>
          <a:p>
            <a:pPr algn="l">
              <a:lnSpc>
                <a:spcPts val="9799"/>
              </a:lnSpc>
            </a:pPr>
            <a:r>
              <a:rPr lang="en-US" sz="6999">
                <a:solidFill>
                  <a:srgbClr val="2A2A2A"/>
                </a:solidFill>
                <a:latin typeface="Montserrat"/>
                <a:ea typeface="Montserrat"/>
                <a:cs typeface="Montserrat"/>
                <a:sym typeface="Montserrat"/>
              </a:rPr>
              <a:t>3</a:t>
            </a:r>
          </a:p>
        </p:txBody>
      </p:sp>
      <p:sp>
        <p:nvSpPr>
          <p:cNvPr name="TextBox 32" id="32"/>
          <p:cNvSpPr txBox="true"/>
          <p:nvPr/>
        </p:nvSpPr>
        <p:spPr>
          <a:xfrm rot="0">
            <a:off x="3233404" y="8028266"/>
            <a:ext cx="7666182" cy="1934845"/>
          </a:xfrm>
          <a:prstGeom prst="rect">
            <a:avLst/>
          </a:prstGeom>
        </p:spPr>
        <p:txBody>
          <a:bodyPr anchor="t" rtlCol="false" tIns="0" lIns="0" bIns="0" rIns="0">
            <a:spAutoFit/>
          </a:bodyPr>
          <a:lstStyle/>
          <a:p>
            <a:pPr algn="just">
              <a:lnSpc>
                <a:spcPts val="3079"/>
              </a:lnSpc>
            </a:pPr>
            <a:r>
              <a:rPr lang="en-US" sz="2199">
                <a:solidFill>
                  <a:srgbClr val="2A2A2A"/>
                </a:solidFill>
                <a:latin typeface="Montserrat"/>
                <a:ea typeface="Montserrat"/>
                <a:cs typeface="Montserrat"/>
                <a:sym typeface="Montserrat"/>
              </a:rPr>
              <a:t>As UPI i</a:t>
            </a:r>
            <a:r>
              <a:rPr lang="en-US" sz="2199">
                <a:solidFill>
                  <a:srgbClr val="2A2A2A"/>
                </a:solidFill>
                <a:latin typeface="Montserrat"/>
                <a:ea typeface="Montserrat"/>
                <a:cs typeface="Montserrat"/>
                <a:sym typeface="Montserrat"/>
              </a:rPr>
              <a:t>s the dominant payment method, introducing limited-time discounts for selected products paid via UPI could enhance customer experience, drive incremental sales, and reinforce the company's digital payment strategy.</a:t>
            </a:r>
          </a:p>
        </p:txBody>
      </p:sp>
      <p:grpSp>
        <p:nvGrpSpPr>
          <p:cNvPr name="Group 33" id="33"/>
          <p:cNvGrpSpPr/>
          <p:nvPr/>
        </p:nvGrpSpPr>
        <p:grpSpPr>
          <a:xfrm rot="0">
            <a:off x="821867" y="8411421"/>
            <a:ext cx="1773372" cy="909675"/>
            <a:chOff x="0" y="0"/>
            <a:chExt cx="467061" cy="239585"/>
          </a:xfrm>
        </p:grpSpPr>
        <p:sp>
          <p:nvSpPr>
            <p:cNvPr name="Freeform 34" id="34"/>
            <p:cNvSpPr/>
            <p:nvPr/>
          </p:nvSpPr>
          <p:spPr>
            <a:xfrm flipH="false" flipV="false" rot="0">
              <a:off x="0" y="0"/>
              <a:ext cx="467061" cy="239585"/>
            </a:xfrm>
            <a:custGeom>
              <a:avLst/>
              <a:gdLst/>
              <a:ahLst/>
              <a:cxnLst/>
              <a:rect r="r" b="b" t="t" l="l"/>
              <a:pathLst>
                <a:path h="239585" w="467061">
                  <a:moveTo>
                    <a:pt x="0" y="0"/>
                  </a:moveTo>
                  <a:lnTo>
                    <a:pt x="467061" y="0"/>
                  </a:lnTo>
                  <a:lnTo>
                    <a:pt x="467061" y="239585"/>
                  </a:lnTo>
                  <a:lnTo>
                    <a:pt x="0" y="239585"/>
                  </a:lnTo>
                  <a:close/>
                </a:path>
              </a:pathLst>
            </a:custGeom>
            <a:solidFill>
              <a:srgbClr val="FABD0B"/>
            </a:solidFill>
            <a:ln w="19050" cap="sq">
              <a:solidFill>
                <a:srgbClr val="2A2A2A"/>
              </a:solidFill>
              <a:prstDash val="solid"/>
              <a:miter/>
            </a:ln>
          </p:spPr>
        </p:sp>
        <p:sp>
          <p:nvSpPr>
            <p:cNvPr name="TextBox 35" id="35"/>
            <p:cNvSpPr txBox="true"/>
            <p:nvPr/>
          </p:nvSpPr>
          <p:spPr>
            <a:xfrm>
              <a:off x="0" y="-38100"/>
              <a:ext cx="467061" cy="277685"/>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548057" y="8202683"/>
            <a:ext cx="952454" cy="1193800"/>
          </a:xfrm>
          <a:prstGeom prst="rect">
            <a:avLst/>
          </a:prstGeom>
        </p:spPr>
        <p:txBody>
          <a:bodyPr anchor="t" rtlCol="false" tIns="0" lIns="0" bIns="0" rIns="0">
            <a:spAutoFit/>
          </a:bodyPr>
          <a:lstStyle/>
          <a:p>
            <a:pPr algn="l">
              <a:lnSpc>
                <a:spcPts val="9799"/>
              </a:lnSpc>
            </a:pPr>
            <a:r>
              <a:rPr lang="en-US" sz="6999">
                <a:solidFill>
                  <a:srgbClr val="2A2A2A"/>
                </a:solidFill>
                <a:latin typeface="Montserrat"/>
                <a:ea typeface="Montserrat"/>
                <a:cs typeface="Montserrat"/>
                <a:sym typeface="Montserrat"/>
              </a:rPr>
              <a:t>4</a:t>
            </a:r>
          </a:p>
        </p:txBody>
      </p:sp>
      <p:grpSp>
        <p:nvGrpSpPr>
          <p:cNvPr name="Group 37" id="37"/>
          <p:cNvGrpSpPr/>
          <p:nvPr/>
        </p:nvGrpSpPr>
        <p:grpSpPr>
          <a:xfrm rot="0">
            <a:off x="15472649" y="720466"/>
            <a:ext cx="2009749" cy="741881"/>
            <a:chOff x="0" y="0"/>
            <a:chExt cx="2679666" cy="989175"/>
          </a:xfrm>
        </p:grpSpPr>
        <p:grpSp>
          <p:nvGrpSpPr>
            <p:cNvPr name="Group 38" id="38"/>
            <p:cNvGrpSpPr/>
            <p:nvPr/>
          </p:nvGrpSpPr>
          <p:grpSpPr>
            <a:xfrm rot="0">
              <a:off x="0" y="0"/>
              <a:ext cx="2679666" cy="989175"/>
              <a:chOff x="0" y="0"/>
              <a:chExt cx="529317" cy="195393"/>
            </a:xfrm>
          </p:grpSpPr>
          <p:sp>
            <p:nvSpPr>
              <p:cNvPr name="Freeform 39" id="39"/>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1D606E"/>
              </a:solidFill>
              <a:ln w="19050" cap="rnd">
                <a:solidFill>
                  <a:srgbClr val="2A2A2A"/>
                </a:solidFill>
                <a:prstDash val="solid"/>
                <a:round/>
              </a:ln>
            </p:spPr>
          </p:sp>
          <p:sp>
            <p:nvSpPr>
              <p:cNvPr name="TextBox 40" id="40"/>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41" id="41"/>
            <p:cNvSpPr/>
            <p:nvPr/>
          </p:nvSpPr>
          <p:spPr>
            <a:xfrm>
              <a:off x="719436" y="494587"/>
              <a:ext cx="1171216" cy="0"/>
            </a:xfrm>
            <a:prstGeom prst="line">
              <a:avLst/>
            </a:prstGeom>
            <a:ln cap="flat" w="76200">
              <a:solidFill>
                <a:srgbClr val="FFFFFF"/>
              </a:solidFill>
              <a:prstDash val="solid"/>
              <a:headEnd type="none" len="sm" w="sm"/>
              <a:tailEnd type="arrow" len="sm" w="med"/>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256071" y="370940"/>
            <a:ext cx="18800143" cy="9606744"/>
            <a:chOff x="0" y="0"/>
            <a:chExt cx="4951478" cy="2530171"/>
          </a:xfrm>
        </p:grpSpPr>
        <p:sp>
          <p:nvSpPr>
            <p:cNvPr name="Freeform 13" id="13"/>
            <p:cNvSpPr/>
            <p:nvPr/>
          </p:nvSpPr>
          <p:spPr>
            <a:xfrm flipH="false" flipV="false" rot="0">
              <a:off x="0" y="0"/>
              <a:ext cx="4951478" cy="2530171"/>
            </a:xfrm>
            <a:custGeom>
              <a:avLst/>
              <a:gdLst/>
              <a:ahLst/>
              <a:cxnLst/>
              <a:rect r="r" b="b" t="t" l="l"/>
              <a:pathLst>
                <a:path h="2530171" w="4951478">
                  <a:moveTo>
                    <a:pt x="0" y="0"/>
                  </a:moveTo>
                  <a:lnTo>
                    <a:pt x="4951478" y="0"/>
                  </a:lnTo>
                  <a:lnTo>
                    <a:pt x="4951478" y="2530171"/>
                  </a:lnTo>
                  <a:lnTo>
                    <a:pt x="0" y="2530171"/>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4951478" cy="2568271"/>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868051" y="435791"/>
            <a:ext cx="15408102" cy="9464640"/>
          </a:xfrm>
          <a:custGeom>
            <a:avLst/>
            <a:gdLst/>
            <a:ahLst/>
            <a:cxnLst/>
            <a:rect r="r" b="b" t="t" l="l"/>
            <a:pathLst>
              <a:path h="9464640" w="15408102">
                <a:moveTo>
                  <a:pt x="0" y="0"/>
                </a:moveTo>
                <a:lnTo>
                  <a:pt x="15408102" y="0"/>
                </a:lnTo>
                <a:lnTo>
                  <a:pt x="15408102" y="9464640"/>
                </a:lnTo>
                <a:lnTo>
                  <a:pt x="0" y="9464640"/>
                </a:lnTo>
                <a:lnTo>
                  <a:pt x="0" y="0"/>
                </a:lnTo>
                <a:close/>
              </a:path>
            </a:pathLst>
          </a:custGeom>
          <a:blipFill>
            <a:blip r:embed="rId4"/>
            <a:stretch>
              <a:fillRect l="-4297" t="-8208" r="-7635" b="-9629"/>
            </a:stretch>
          </a:blipFill>
        </p:spPr>
      </p:sp>
      <p:grpSp>
        <p:nvGrpSpPr>
          <p:cNvPr name="Group 16" id="16"/>
          <p:cNvGrpSpPr/>
          <p:nvPr/>
        </p:nvGrpSpPr>
        <p:grpSpPr>
          <a:xfrm rot="0">
            <a:off x="16254425" y="286819"/>
            <a:ext cx="2009749" cy="741881"/>
            <a:chOff x="0" y="0"/>
            <a:chExt cx="2679666" cy="989175"/>
          </a:xfrm>
        </p:grpSpPr>
        <p:grpSp>
          <p:nvGrpSpPr>
            <p:cNvPr name="Group 17" id="17"/>
            <p:cNvGrpSpPr/>
            <p:nvPr/>
          </p:nvGrpSpPr>
          <p:grpSpPr>
            <a:xfrm rot="0">
              <a:off x="0" y="0"/>
              <a:ext cx="2679666" cy="989175"/>
              <a:chOff x="0" y="0"/>
              <a:chExt cx="529317" cy="195393"/>
            </a:xfrm>
          </p:grpSpPr>
          <p:sp>
            <p:nvSpPr>
              <p:cNvPr name="Freeform 18" id="18"/>
              <p:cNvSpPr/>
              <p:nvPr/>
            </p:nvSpPr>
            <p:spPr>
              <a:xfrm flipH="false" flipV="false" rot="0">
                <a:off x="0" y="0"/>
                <a:ext cx="529317" cy="195393"/>
              </a:xfrm>
              <a:custGeom>
                <a:avLst/>
                <a:gdLst/>
                <a:ahLst/>
                <a:cxnLst/>
                <a:rect r="r" b="b" t="t" l="l"/>
                <a:pathLst>
                  <a:path h="195393" w="529317">
                    <a:moveTo>
                      <a:pt x="97696" y="0"/>
                    </a:moveTo>
                    <a:lnTo>
                      <a:pt x="431620" y="0"/>
                    </a:lnTo>
                    <a:cubicBezTo>
                      <a:pt x="485577" y="0"/>
                      <a:pt x="529317" y="43740"/>
                      <a:pt x="529317" y="97696"/>
                    </a:cubicBezTo>
                    <a:lnTo>
                      <a:pt x="529317" y="97696"/>
                    </a:lnTo>
                    <a:cubicBezTo>
                      <a:pt x="529317" y="151652"/>
                      <a:pt x="485577" y="195393"/>
                      <a:pt x="431620" y="195393"/>
                    </a:cubicBezTo>
                    <a:lnTo>
                      <a:pt x="97696" y="195393"/>
                    </a:lnTo>
                    <a:cubicBezTo>
                      <a:pt x="43740" y="195393"/>
                      <a:pt x="0" y="151652"/>
                      <a:pt x="0" y="97696"/>
                    </a:cubicBezTo>
                    <a:lnTo>
                      <a:pt x="0" y="97696"/>
                    </a:lnTo>
                    <a:cubicBezTo>
                      <a:pt x="0" y="43740"/>
                      <a:pt x="43740" y="0"/>
                      <a:pt x="97696" y="0"/>
                    </a:cubicBezTo>
                    <a:close/>
                  </a:path>
                </a:pathLst>
              </a:custGeom>
              <a:solidFill>
                <a:srgbClr val="1D606E"/>
              </a:solidFill>
              <a:ln w="19050" cap="rnd">
                <a:solidFill>
                  <a:srgbClr val="2A2A2A"/>
                </a:solidFill>
                <a:prstDash val="solid"/>
                <a:round/>
              </a:ln>
            </p:spPr>
          </p:sp>
          <p:sp>
            <p:nvSpPr>
              <p:cNvPr name="TextBox 19" id="19"/>
              <p:cNvSpPr txBox="true"/>
              <p:nvPr/>
            </p:nvSpPr>
            <p:spPr>
              <a:xfrm>
                <a:off x="0" y="-57150"/>
                <a:ext cx="529317" cy="252543"/>
              </a:xfrm>
              <a:prstGeom prst="rect">
                <a:avLst/>
              </a:prstGeom>
            </p:spPr>
            <p:txBody>
              <a:bodyPr anchor="ctr" rtlCol="false" tIns="50800" lIns="50800" bIns="50800" rIns="50800"/>
              <a:lstStyle/>
              <a:p>
                <a:pPr algn="ctr">
                  <a:lnSpc>
                    <a:spcPts val="4200"/>
                  </a:lnSpc>
                </a:pPr>
              </a:p>
            </p:txBody>
          </p:sp>
        </p:grpSp>
        <p:sp>
          <p:nvSpPr>
            <p:cNvPr name="AutoShape 20" id="20"/>
            <p:cNvSpPr/>
            <p:nvPr/>
          </p:nvSpPr>
          <p:spPr>
            <a:xfrm>
              <a:off x="719436" y="494587"/>
              <a:ext cx="1171216" cy="0"/>
            </a:xfrm>
            <a:prstGeom prst="line">
              <a:avLst/>
            </a:prstGeom>
            <a:ln cap="flat" w="76200">
              <a:solidFill>
                <a:srgbClr val="FFFFFF"/>
              </a:solidFill>
              <a:prstDash val="solid"/>
              <a:headEnd type="none" len="sm" w="sm"/>
              <a:tailEnd type="arrow" len="sm" w="med"/>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860" y="-371285"/>
            <a:ext cx="12261833" cy="12266070"/>
            <a:chOff x="0" y="0"/>
            <a:chExt cx="16349111" cy="16354760"/>
          </a:xfrm>
        </p:grpSpPr>
        <p:sp>
          <p:nvSpPr>
            <p:cNvPr name="Freeform 3" id="3"/>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6438686" y="-371285"/>
            <a:ext cx="12261833" cy="12266070"/>
            <a:chOff x="0" y="0"/>
            <a:chExt cx="16349111" cy="16354760"/>
          </a:xfrm>
        </p:grpSpPr>
        <p:sp>
          <p:nvSpPr>
            <p:cNvPr name="Freeform 8" id="8"/>
            <p:cNvSpPr/>
            <p:nvPr/>
          </p:nvSpPr>
          <p:spPr>
            <a:xfrm flipH="false" flipV="false" rot="0">
              <a:off x="0"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157606" y="0"/>
              <a:ext cx="8191505" cy="8191505"/>
            </a:xfrm>
            <a:custGeom>
              <a:avLst/>
              <a:gdLst/>
              <a:ahLst/>
              <a:cxnLst/>
              <a:rect r="r" b="b" t="t" l="l"/>
              <a:pathLst>
                <a:path h="8191505" w="8191505">
                  <a:moveTo>
                    <a:pt x="0" y="0"/>
                  </a:moveTo>
                  <a:lnTo>
                    <a:pt x="8191505" y="0"/>
                  </a:lnTo>
                  <a:lnTo>
                    <a:pt x="8191505" y="8191505"/>
                  </a:lnTo>
                  <a:lnTo>
                    <a:pt x="0" y="8191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157606"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0" y="8163256"/>
              <a:ext cx="8191505" cy="8191505"/>
            </a:xfrm>
            <a:custGeom>
              <a:avLst/>
              <a:gdLst/>
              <a:ahLst/>
              <a:cxnLst/>
              <a:rect r="r" b="b" t="t" l="l"/>
              <a:pathLst>
                <a:path h="8191505" w="8191505">
                  <a:moveTo>
                    <a:pt x="0" y="0"/>
                  </a:moveTo>
                  <a:lnTo>
                    <a:pt x="8191505" y="0"/>
                  </a:lnTo>
                  <a:lnTo>
                    <a:pt x="8191505" y="8191504"/>
                  </a:lnTo>
                  <a:lnTo>
                    <a:pt x="0" y="819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1028700" y="1028700"/>
            <a:ext cx="16230600" cy="8229600"/>
            <a:chOff x="0" y="0"/>
            <a:chExt cx="4274726" cy="2167467"/>
          </a:xfrm>
        </p:grpSpPr>
        <p:sp>
          <p:nvSpPr>
            <p:cNvPr name="Freeform 13" id="1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2A2A2A"/>
              </a:solidFill>
              <a:prstDash val="solid"/>
              <a:miter/>
            </a:ln>
          </p:spPr>
        </p:sp>
        <p:sp>
          <p:nvSpPr>
            <p:cNvPr name="TextBox 14" id="1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871704" y="8751802"/>
            <a:ext cx="6697898" cy="1012995"/>
            <a:chOff x="0" y="0"/>
            <a:chExt cx="1764056" cy="266797"/>
          </a:xfrm>
        </p:grpSpPr>
        <p:sp>
          <p:nvSpPr>
            <p:cNvPr name="Freeform 16" id="16"/>
            <p:cNvSpPr/>
            <p:nvPr/>
          </p:nvSpPr>
          <p:spPr>
            <a:xfrm flipH="false" flipV="false" rot="0">
              <a:off x="0" y="0"/>
              <a:ext cx="1764056" cy="266797"/>
            </a:xfrm>
            <a:custGeom>
              <a:avLst/>
              <a:gdLst/>
              <a:ahLst/>
              <a:cxnLst/>
              <a:rect r="r" b="b" t="t" l="l"/>
              <a:pathLst>
                <a:path h="266797" w="1764056">
                  <a:moveTo>
                    <a:pt x="58950" y="0"/>
                  </a:moveTo>
                  <a:lnTo>
                    <a:pt x="1705106" y="0"/>
                  </a:lnTo>
                  <a:cubicBezTo>
                    <a:pt x="1720740" y="0"/>
                    <a:pt x="1735734" y="6211"/>
                    <a:pt x="1746790" y="17266"/>
                  </a:cubicBezTo>
                  <a:cubicBezTo>
                    <a:pt x="1757845" y="28321"/>
                    <a:pt x="1764056" y="43315"/>
                    <a:pt x="1764056" y="58950"/>
                  </a:cubicBezTo>
                  <a:lnTo>
                    <a:pt x="1764056" y="207848"/>
                  </a:lnTo>
                  <a:cubicBezTo>
                    <a:pt x="1764056" y="240405"/>
                    <a:pt x="1737663" y="266797"/>
                    <a:pt x="1705106" y="266797"/>
                  </a:cubicBezTo>
                  <a:lnTo>
                    <a:pt x="58950" y="266797"/>
                  </a:lnTo>
                  <a:cubicBezTo>
                    <a:pt x="26393" y="266797"/>
                    <a:pt x="0" y="240405"/>
                    <a:pt x="0" y="207848"/>
                  </a:cubicBezTo>
                  <a:lnTo>
                    <a:pt x="0" y="58950"/>
                  </a:lnTo>
                  <a:cubicBezTo>
                    <a:pt x="0" y="26393"/>
                    <a:pt x="26393" y="0"/>
                    <a:pt x="58950" y="0"/>
                  </a:cubicBezTo>
                  <a:close/>
                </a:path>
              </a:pathLst>
            </a:custGeom>
            <a:solidFill>
              <a:srgbClr val="1D606E"/>
            </a:solidFill>
            <a:ln w="19050" cap="rnd">
              <a:solidFill>
                <a:srgbClr val="2A2A2A"/>
              </a:solidFill>
              <a:prstDash val="solid"/>
              <a:round/>
            </a:ln>
          </p:spPr>
        </p:sp>
        <p:sp>
          <p:nvSpPr>
            <p:cNvPr name="TextBox 17" id="17"/>
            <p:cNvSpPr txBox="true"/>
            <p:nvPr/>
          </p:nvSpPr>
          <p:spPr>
            <a:xfrm>
              <a:off x="0" y="-57150"/>
              <a:ext cx="1764056" cy="323947"/>
            </a:xfrm>
            <a:prstGeom prst="rect">
              <a:avLst/>
            </a:prstGeom>
          </p:spPr>
          <p:txBody>
            <a:bodyPr anchor="ctr" rtlCol="false" tIns="50800" lIns="50800" bIns="50800" rIns="50800"/>
            <a:lstStyle/>
            <a:p>
              <a:pPr algn="ctr">
                <a:lnSpc>
                  <a:spcPts val="4200"/>
                </a:lnSpc>
              </a:pPr>
            </a:p>
          </p:txBody>
        </p:sp>
      </p:grpSp>
      <p:sp>
        <p:nvSpPr>
          <p:cNvPr name="Freeform 18" id="18"/>
          <p:cNvSpPr/>
          <p:nvPr/>
        </p:nvSpPr>
        <p:spPr>
          <a:xfrm flipH="false" flipV="false" rot="0">
            <a:off x="6314609" y="1662211"/>
            <a:ext cx="5658783" cy="3961148"/>
          </a:xfrm>
          <a:custGeom>
            <a:avLst/>
            <a:gdLst/>
            <a:ahLst/>
            <a:cxnLst/>
            <a:rect r="r" b="b" t="t" l="l"/>
            <a:pathLst>
              <a:path h="3961148" w="5658783">
                <a:moveTo>
                  <a:pt x="0" y="0"/>
                </a:moveTo>
                <a:lnTo>
                  <a:pt x="5658782" y="0"/>
                </a:lnTo>
                <a:lnTo>
                  <a:pt x="5658782" y="3961148"/>
                </a:lnTo>
                <a:lnTo>
                  <a:pt x="0" y="39611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4339271" y="5456950"/>
            <a:ext cx="9609458" cy="2590800"/>
          </a:xfrm>
          <a:prstGeom prst="rect">
            <a:avLst/>
          </a:prstGeom>
        </p:spPr>
        <p:txBody>
          <a:bodyPr anchor="t" rtlCol="false" tIns="0" lIns="0" bIns="0" rIns="0">
            <a:spAutoFit/>
          </a:bodyPr>
          <a:lstStyle/>
          <a:p>
            <a:pPr algn="ctr">
              <a:lnSpc>
                <a:spcPts val="21000"/>
              </a:lnSpc>
            </a:pPr>
            <a:r>
              <a:rPr lang="en-US" sz="15000">
                <a:solidFill>
                  <a:srgbClr val="2A2A2A"/>
                </a:solidFill>
                <a:latin typeface="Bebas Neue"/>
                <a:ea typeface="Bebas Neue"/>
                <a:cs typeface="Bebas Neue"/>
                <a:sym typeface="Bebas Neu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DAHP1HJAtvM</dc:identifier>
  <dcterms:modified xsi:type="dcterms:W3CDTF">2011-08-01T06:04:30Z</dcterms:modified>
  <cp:revision>1</cp:revision>
  <dc:title>E-Commerce Sales Performance Dashboard</dc:title>
</cp:coreProperties>
</file>